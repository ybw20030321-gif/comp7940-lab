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8.svg" ContentType="image/svg+xml"/>
  <Override PartName="/ppt/media/image2.svg" ContentType="image/svg+xml"/>
  <Override PartName="/ppt/media/image21.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9"/>
  </p:notesMasterIdLst>
  <p:sldIdLst>
    <p:sldId id="281" r:id="rId4"/>
    <p:sldId id="256" r:id="rId5"/>
    <p:sldId id="286" r:id="rId6"/>
    <p:sldId id="276" r:id="rId7"/>
    <p:sldId id="288" r:id="rId8"/>
    <p:sldId id="289" r:id="rId9"/>
    <p:sldId id="293" r:id="rId10"/>
    <p:sldId id="282" r:id="rId11"/>
    <p:sldId id="290" r:id="rId12"/>
    <p:sldId id="258" r:id="rId13"/>
    <p:sldId id="291" r:id="rId14"/>
    <p:sldId id="287" r:id="rId15"/>
    <p:sldId id="284" r:id="rId16"/>
    <p:sldId id="285" r:id="rId17"/>
    <p:sldId id="28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42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6CDC6C-7CDD-461D-B8D6-33A012792C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FA0CC8-BE60-4AFD-A2BD-ABA1B88F44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6CDC6C-7CDD-461D-B8D6-33A012792C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FA0CC8-BE60-4AFD-A2BD-ABA1B88F44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50" advTm="4497"/>
    </mc:Choice>
    <mc:Fallback>
      <p:transition spd="slow" advTm="4497"/>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6CDC6C-7CDD-461D-B8D6-33A012792C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FA0CC8-BE60-4AFD-A2BD-ABA1B88F44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250" advTm="4497"/>
    </mc:Choice>
    <mc:Fallback>
      <p:transition spd="slow" advTm="4497"/>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image" Target="../media/image8.jpe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svg"/><Relationship Id="rId16" Type="http://schemas.openxmlformats.org/officeDocument/2006/relationships/slideLayout" Target="../slideLayouts/slideLayout13.xml"/><Relationship Id="rId15" Type="http://schemas.openxmlformats.org/officeDocument/2006/relationships/tags" Target="../tags/tag15.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xml"/><Relationship Id="rId2" Type="http://schemas.openxmlformats.org/officeDocument/2006/relationships/image" Target="../media/image15.pn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5.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7.xml"/><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8.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文本框 51"/>
          <p:cNvSpPr txBox="1"/>
          <p:nvPr/>
        </p:nvSpPr>
        <p:spPr>
          <a:xfrm>
            <a:off x="800100" y="2195097"/>
            <a:ext cx="7843777" cy="1015663"/>
          </a:xfrm>
          <a:prstGeom prst="rect">
            <a:avLst/>
          </a:prstGeom>
          <a:noFill/>
        </p:spPr>
        <p:txBody>
          <a:bodyPr wrap="square" rtlCol="0">
            <a:spAutoFit/>
          </a:bodyPr>
          <a:lstStyle/>
          <a:p>
            <a:r>
              <a:rPr lang="en-US" altLang="zh-CN" sz="6000" dirty="0"/>
              <a:t>Campus Helper Bot</a:t>
            </a:r>
            <a:endParaRPr lang="zh-CN" altLang="en-US" sz="6000" dirty="0">
              <a:latin typeface="方正正黑简体" panose="02000000000000000000" pitchFamily="2" charset="-122"/>
              <a:ea typeface="方正正黑简体" panose="02000000000000000000" pitchFamily="2" charset="-122"/>
              <a:cs typeface="+mn-ea"/>
              <a:sym typeface="+mn-lt"/>
            </a:endParaRPr>
          </a:p>
        </p:txBody>
      </p:sp>
      <p:sp>
        <p:nvSpPr>
          <p:cNvPr id="55" name="文本框 54"/>
          <p:cNvSpPr txBox="1"/>
          <p:nvPr/>
        </p:nvSpPr>
        <p:spPr>
          <a:xfrm>
            <a:off x="888124" y="3680102"/>
            <a:ext cx="5734277" cy="369332"/>
          </a:xfrm>
          <a:prstGeom prst="rect">
            <a:avLst/>
          </a:prstGeom>
          <a:noFill/>
        </p:spPr>
        <p:txBody>
          <a:bodyPr wrap="square" rtlCol="0">
            <a:spAutoFit/>
          </a:bodyPr>
          <a:lstStyle/>
          <a:p>
            <a:r>
              <a:rPr lang="en-US" altLang="zh-CN" dirty="0">
                <a:cs typeface="+mn-ea"/>
                <a:sym typeface="+mn-lt"/>
              </a:rPr>
              <a:t>COMP 7940 Group Project</a:t>
            </a:r>
            <a:endParaRPr lang="zh-CN" altLang="en-US" dirty="0">
              <a:cs typeface="+mn-ea"/>
              <a:sym typeface="+mn-lt"/>
            </a:endParaRPr>
          </a:p>
        </p:txBody>
      </p:sp>
      <p:cxnSp>
        <p:nvCxnSpPr>
          <p:cNvPr id="57" name="直接连接符 56"/>
          <p:cNvCxnSpPr/>
          <p:nvPr/>
        </p:nvCxnSpPr>
        <p:spPr>
          <a:xfrm>
            <a:off x="1066152" y="416379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964325" y="4489918"/>
            <a:ext cx="6381977"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Yang Bowei (25428179)</a:t>
            </a:r>
            <a:endParaRPr lang="en-US" altLang="zh-CN" sz="1600" dirty="0">
              <a:solidFill>
                <a:schemeClr val="tx1">
                  <a:lumMod val="50000"/>
                  <a:lumOff val="50000"/>
                </a:schemeClr>
              </a:solidFill>
              <a:cs typeface="+mn-ea"/>
              <a:sym typeface="+mn-lt"/>
            </a:endParaRPr>
          </a:p>
          <a:p>
            <a:r>
              <a:rPr lang="en-US" altLang="zh-CN" sz="1600" dirty="0">
                <a:solidFill>
                  <a:schemeClr val="tx1">
                    <a:lumMod val="50000"/>
                    <a:lumOff val="50000"/>
                  </a:schemeClr>
                </a:solidFill>
                <a:cs typeface="+mn-ea"/>
                <a:sym typeface="+mn-lt"/>
              </a:rPr>
              <a:t>Ji Xinyu (25423797)</a:t>
            </a:r>
            <a:endParaRPr lang="zh-CN" altLang="en-US" sz="1600" dirty="0">
              <a:solidFill>
                <a:schemeClr val="tx1">
                  <a:lumMod val="50000"/>
                  <a:lumOff val="50000"/>
                </a:schemeClr>
              </a:solidFill>
              <a:cs typeface="+mn-ea"/>
              <a:sym typeface="+mn-lt"/>
            </a:endParaRPr>
          </a:p>
        </p:txBody>
      </p:sp>
      <p:grpSp>
        <p:nvGrpSpPr>
          <p:cNvPr id="66" name="组合 65"/>
          <p:cNvGrpSpPr/>
          <p:nvPr/>
        </p:nvGrpSpPr>
        <p:grpSpPr>
          <a:xfrm>
            <a:off x="9753600" y="2195097"/>
            <a:ext cx="1111416" cy="2434055"/>
            <a:chOff x="9448800" y="2089837"/>
            <a:chExt cx="1428750" cy="2731515"/>
          </a:xfrm>
        </p:grpSpPr>
        <p:cxnSp>
          <p:nvCxnSpPr>
            <p:cNvPr id="63" name="直接连接符 62"/>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530275"/>
            <a:ext cx="12192000" cy="381000"/>
            <a:chOff x="0" y="530275"/>
            <a:chExt cx="12192000" cy="381000"/>
          </a:xfrm>
        </p:grpSpPr>
        <p:cxnSp>
          <p:nvCxnSpPr>
            <p:cNvPr id="50" name="直接连接符 49"/>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等腰三角形 67"/>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等腰三角形 68"/>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9" name="组合 78"/>
          <p:cNvGrpSpPr/>
          <p:nvPr/>
        </p:nvGrpSpPr>
        <p:grpSpPr>
          <a:xfrm>
            <a:off x="0" y="6229350"/>
            <a:ext cx="12192000" cy="381000"/>
            <a:chOff x="0" y="6229350"/>
            <a:chExt cx="12192000" cy="381000"/>
          </a:xfrm>
        </p:grpSpPr>
        <p:cxnSp>
          <p:nvCxnSpPr>
            <p:cNvPr id="67" name="直接连接符 66"/>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rot="10800000">
              <a:off x="10865016" y="6229350"/>
              <a:ext cx="656896" cy="381000"/>
              <a:chOff x="10536568" y="6381752"/>
              <a:chExt cx="656896" cy="381000"/>
            </a:xfrm>
          </p:grpSpPr>
          <p:sp>
            <p:nvSpPr>
              <p:cNvPr id="71" name="等腰三角形 70"/>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等腰三角形 71"/>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52" grpId="0"/>
      <p:bldP spid="55" grpId="0"/>
      <p:bldP spid="5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0" y="505586"/>
            <a:ext cx="12192000" cy="381000"/>
            <a:chOff x="0" y="391286"/>
            <a:chExt cx="12192000" cy="381000"/>
          </a:xfrm>
        </p:grpSpPr>
        <p:cxnSp>
          <p:nvCxnSpPr>
            <p:cNvPr id="46" name="直接连接符 45"/>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rot="10800000">
              <a:off x="11060824" y="391286"/>
              <a:ext cx="656896" cy="381000"/>
              <a:chOff x="307428" y="393221"/>
              <a:chExt cx="656896" cy="381000"/>
            </a:xfrm>
          </p:grpSpPr>
          <p:sp>
            <p:nvSpPr>
              <p:cNvPr id="47" name="等腰三角形 4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等腰三角形 4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54" name="文本框 53"/>
          <p:cNvSpPr txBox="1"/>
          <p:nvPr>
            <p:custDataLst>
              <p:tags r:id="rId1"/>
            </p:custDataLst>
          </p:nvPr>
        </p:nvSpPr>
        <p:spPr>
          <a:xfrm>
            <a:off x="3655206" y="1679849"/>
            <a:ext cx="857251" cy="1323439"/>
          </a:xfrm>
          <a:prstGeom prst="rect">
            <a:avLst/>
          </a:prstGeom>
          <a:noFill/>
        </p:spPr>
        <p:txBody>
          <a:bodyPr wrap="square" rtlCol="0">
            <a:spAutoFit/>
          </a:bodyPr>
          <a:lstStyle/>
          <a:p>
            <a:r>
              <a:rPr lang="en-US" altLang="zh-CN" sz="4000" dirty="0">
                <a:cs typeface="+mn-ea"/>
                <a:sym typeface="+mn-lt"/>
              </a:rPr>
              <a:t>01.</a:t>
            </a:r>
            <a:endParaRPr lang="zh-CN" altLang="en-US" sz="4000" dirty="0">
              <a:cs typeface="+mn-ea"/>
              <a:sym typeface="+mn-lt"/>
            </a:endParaRPr>
          </a:p>
        </p:txBody>
      </p:sp>
      <p:sp>
        <p:nvSpPr>
          <p:cNvPr id="56" name="文本框 55"/>
          <p:cNvSpPr txBox="1"/>
          <p:nvPr>
            <p:custDataLst>
              <p:tags r:id="rId2"/>
            </p:custDataLst>
          </p:nvPr>
        </p:nvSpPr>
        <p:spPr>
          <a:xfrm>
            <a:off x="4533577" y="1830690"/>
            <a:ext cx="4080849" cy="461665"/>
          </a:xfrm>
          <a:prstGeom prst="rect">
            <a:avLst/>
          </a:prstGeom>
          <a:noFill/>
        </p:spPr>
        <p:txBody>
          <a:bodyPr wrap="square" rtlCol="0">
            <a:spAutoFit/>
          </a:bodyPr>
          <a:lstStyle/>
          <a:p>
            <a:r>
              <a:rPr lang="en-US" altLang="zh-CN" sz="2400" b="1" dirty="0"/>
              <a:t>Project Overview</a:t>
            </a:r>
            <a:endParaRPr lang="zh-CN" altLang="en-US" sz="4000" dirty="0">
              <a:cs typeface="+mn-ea"/>
              <a:sym typeface="+mn-lt"/>
            </a:endParaRPr>
          </a:p>
        </p:txBody>
      </p:sp>
      <p:sp>
        <p:nvSpPr>
          <p:cNvPr id="58" name="文本框 57"/>
          <p:cNvSpPr txBox="1"/>
          <p:nvPr>
            <p:custDataLst>
              <p:tags r:id="rId3"/>
            </p:custDataLst>
          </p:nvPr>
        </p:nvSpPr>
        <p:spPr>
          <a:xfrm>
            <a:off x="3655206" y="2812024"/>
            <a:ext cx="857251" cy="1323439"/>
          </a:xfrm>
          <a:prstGeom prst="rect">
            <a:avLst/>
          </a:prstGeom>
          <a:noFill/>
        </p:spPr>
        <p:txBody>
          <a:bodyPr wrap="square" rtlCol="0">
            <a:spAutoFit/>
          </a:bodyPr>
          <a:lstStyle/>
          <a:p>
            <a:r>
              <a:rPr lang="en-US" altLang="zh-CN" sz="4000" dirty="0">
                <a:cs typeface="+mn-ea"/>
                <a:sym typeface="+mn-lt"/>
              </a:rPr>
              <a:t>02.</a:t>
            </a:r>
            <a:endParaRPr lang="zh-CN" altLang="en-US" sz="4000" dirty="0">
              <a:cs typeface="+mn-ea"/>
              <a:sym typeface="+mn-lt"/>
            </a:endParaRPr>
          </a:p>
        </p:txBody>
      </p:sp>
      <p:sp>
        <p:nvSpPr>
          <p:cNvPr id="60" name="文本框 59"/>
          <p:cNvSpPr txBox="1"/>
          <p:nvPr>
            <p:custDataLst>
              <p:tags r:id="rId4"/>
            </p:custDataLst>
          </p:nvPr>
        </p:nvSpPr>
        <p:spPr>
          <a:xfrm>
            <a:off x="4445783" y="2814452"/>
            <a:ext cx="4828846" cy="830997"/>
          </a:xfrm>
          <a:prstGeom prst="rect">
            <a:avLst/>
          </a:prstGeom>
          <a:noFill/>
        </p:spPr>
        <p:txBody>
          <a:bodyPr wrap="square" rtlCol="0">
            <a:spAutoFit/>
          </a:bodyPr>
          <a:lstStyle/>
          <a:p>
            <a:pPr lvl="0"/>
            <a:r>
              <a:rPr lang="en-US" altLang="zh-CN" sz="2400" b="1" dirty="0"/>
              <a:t>System Design and Technical Implementation</a:t>
            </a:r>
            <a:endParaRPr lang="zh-CN" altLang="zh-CN" sz="2400" dirty="0"/>
          </a:p>
        </p:txBody>
      </p:sp>
      <p:sp>
        <p:nvSpPr>
          <p:cNvPr id="62" name="文本框 61"/>
          <p:cNvSpPr txBox="1"/>
          <p:nvPr>
            <p:custDataLst>
              <p:tags r:id="rId5"/>
            </p:custDataLst>
          </p:nvPr>
        </p:nvSpPr>
        <p:spPr>
          <a:xfrm>
            <a:off x="3655206" y="3825249"/>
            <a:ext cx="857251" cy="1323439"/>
          </a:xfrm>
          <a:prstGeom prst="rect">
            <a:avLst/>
          </a:prstGeom>
          <a:noFill/>
        </p:spPr>
        <p:txBody>
          <a:bodyPr wrap="square" rtlCol="0">
            <a:spAutoFit/>
          </a:bodyPr>
          <a:lstStyle/>
          <a:p>
            <a:r>
              <a:rPr lang="en-US" altLang="zh-CN" sz="4000" dirty="0">
                <a:cs typeface="+mn-ea"/>
                <a:sym typeface="+mn-lt"/>
              </a:rPr>
              <a:t>03.</a:t>
            </a:r>
            <a:endParaRPr lang="zh-CN" altLang="en-US" sz="4000" dirty="0">
              <a:cs typeface="+mn-ea"/>
              <a:sym typeface="+mn-lt"/>
            </a:endParaRPr>
          </a:p>
        </p:txBody>
      </p:sp>
      <p:sp>
        <p:nvSpPr>
          <p:cNvPr id="64" name="文本框 63"/>
          <p:cNvSpPr txBox="1"/>
          <p:nvPr>
            <p:custDataLst>
              <p:tags r:id="rId6"/>
            </p:custDataLst>
          </p:nvPr>
        </p:nvSpPr>
        <p:spPr>
          <a:xfrm>
            <a:off x="4479120" y="3935403"/>
            <a:ext cx="4080849" cy="461665"/>
          </a:xfrm>
          <a:prstGeom prst="rect">
            <a:avLst/>
          </a:prstGeom>
          <a:noFill/>
        </p:spPr>
        <p:txBody>
          <a:bodyPr wrap="square" rtlCol="0">
            <a:spAutoFit/>
          </a:bodyPr>
          <a:lstStyle/>
          <a:p>
            <a:r>
              <a:rPr lang="en-US" altLang="zh-CN" sz="2400" b="1" dirty="0"/>
              <a:t>Resources and Costs</a:t>
            </a:r>
            <a:endParaRPr lang="zh-CN" altLang="zh-CN" sz="2400" b="1" dirty="0"/>
          </a:p>
        </p:txBody>
      </p:sp>
      <p:sp>
        <p:nvSpPr>
          <p:cNvPr id="66" name="文本框 65"/>
          <p:cNvSpPr txBox="1"/>
          <p:nvPr>
            <p:custDataLst>
              <p:tags r:id="rId7"/>
            </p:custDataLst>
          </p:nvPr>
        </p:nvSpPr>
        <p:spPr>
          <a:xfrm>
            <a:off x="3655206" y="4838475"/>
            <a:ext cx="857251" cy="1323439"/>
          </a:xfrm>
          <a:prstGeom prst="rect">
            <a:avLst/>
          </a:prstGeom>
          <a:noFill/>
        </p:spPr>
        <p:txBody>
          <a:bodyPr wrap="square" rtlCol="0">
            <a:spAutoFit/>
          </a:bodyPr>
          <a:lstStyle/>
          <a:p>
            <a:r>
              <a:rPr lang="en-US" altLang="zh-CN" sz="4000" dirty="0">
                <a:cs typeface="+mn-ea"/>
                <a:sym typeface="+mn-lt"/>
              </a:rPr>
              <a:t>04.</a:t>
            </a:r>
            <a:endParaRPr lang="zh-CN" altLang="en-US" sz="4000" dirty="0">
              <a:cs typeface="+mn-ea"/>
              <a:sym typeface="+mn-lt"/>
            </a:endParaRPr>
          </a:p>
        </p:txBody>
      </p:sp>
      <p:sp>
        <p:nvSpPr>
          <p:cNvPr id="68" name="文本框 67"/>
          <p:cNvSpPr txBox="1"/>
          <p:nvPr>
            <p:custDataLst>
              <p:tags r:id="rId8"/>
            </p:custDataLst>
          </p:nvPr>
        </p:nvSpPr>
        <p:spPr>
          <a:xfrm>
            <a:off x="4445783" y="4840902"/>
            <a:ext cx="4080849" cy="830997"/>
          </a:xfrm>
          <a:prstGeom prst="rect">
            <a:avLst/>
          </a:prstGeom>
          <a:noFill/>
        </p:spPr>
        <p:txBody>
          <a:bodyPr wrap="square" rtlCol="0">
            <a:spAutoFit/>
          </a:bodyPr>
          <a:lstStyle/>
          <a:p>
            <a:pPr lvl="0"/>
            <a:r>
              <a:rPr lang="en-US" altLang="zh-CN" sz="2400" b="1" dirty="0"/>
              <a:t>Project Verification and Demonstration</a:t>
            </a:r>
            <a:endParaRPr lang="zh-CN" altLang="zh-CN" sz="2400" b="1" dirty="0"/>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54" grpId="0"/>
      <p:bldP spid="58" grpId="0"/>
      <p:bldP spid="62" grpId="0"/>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0" y="505586"/>
            <a:ext cx="12192000" cy="381000"/>
            <a:chOff x="0" y="391286"/>
            <a:chExt cx="12192000" cy="381000"/>
          </a:xfrm>
        </p:grpSpPr>
        <p:cxnSp>
          <p:nvCxnSpPr>
            <p:cNvPr id="5" name="直接连接符 4"/>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rot="10800000">
              <a:off x="11060824" y="391286"/>
              <a:ext cx="656896" cy="381000"/>
              <a:chOff x="307428" y="393221"/>
              <a:chExt cx="656896" cy="381000"/>
            </a:xfrm>
          </p:grpSpPr>
          <p:sp>
            <p:nvSpPr>
              <p:cNvPr id="7" name="等腰三角形 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9" name="组合 18"/>
          <p:cNvGrpSpPr/>
          <p:nvPr/>
        </p:nvGrpSpPr>
        <p:grpSpPr>
          <a:xfrm>
            <a:off x="918119" y="2074291"/>
            <a:ext cx="3253831" cy="3088254"/>
            <a:chOff x="918118" y="2074291"/>
            <a:chExt cx="3253831" cy="3088254"/>
          </a:xfrm>
        </p:grpSpPr>
        <p:sp>
          <p:nvSpPr>
            <p:cNvPr id="10" name="矩形 9"/>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01</a:t>
              </a:r>
              <a:endParaRPr lang="zh-CN" altLang="en-US" sz="11500" i="1" dirty="0">
                <a:cs typeface="+mn-ea"/>
                <a:sym typeface="+mn-lt"/>
              </a:endParaRPr>
            </a:p>
          </p:txBody>
        </p:sp>
      </p:grpSp>
      <p:sp>
        <p:nvSpPr>
          <p:cNvPr id="12" name="矩形 11"/>
          <p:cNvSpPr/>
          <p:nvPr/>
        </p:nvSpPr>
        <p:spPr>
          <a:xfrm>
            <a:off x="4858723" y="2787421"/>
            <a:ext cx="5728385" cy="830997"/>
          </a:xfrm>
          <a:prstGeom prst="rect">
            <a:avLst/>
          </a:prstGeom>
        </p:spPr>
        <p:txBody>
          <a:bodyPr wrap="square">
            <a:spAutoFit/>
          </a:bodyPr>
          <a:lstStyle/>
          <a:p>
            <a:r>
              <a:rPr lang="en-US" altLang="zh-CN" sz="4800" b="1" dirty="0"/>
              <a:t>Project Overview</a:t>
            </a:r>
            <a:endParaRPr lang="zh-CN" altLang="en-US" sz="7200" dirty="0">
              <a:cs typeface="+mn-ea"/>
              <a:sym typeface="+mn-lt"/>
            </a:endParaRPr>
          </a:p>
        </p:txBody>
      </p:sp>
      <p:grpSp>
        <p:nvGrpSpPr>
          <p:cNvPr id="14" name="组合 13"/>
          <p:cNvGrpSpPr/>
          <p:nvPr/>
        </p:nvGrpSpPr>
        <p:grpSpPr>
          <a:xfrm>
            <a:off x="10657819" y="2644915"/>
            <a:ext cx="555708" cy="1855199"/>
            <a:chOff x="9448800" y="2089837"/>
            <a:chExt cx="1428750" cy="2731515"/>
          </a:xfrm>
        </p:grpSpPr>
        <p:cxnSp>
          <p:nvCxnSpPr>
            <p:cNvPr id="15" name="直接连接符 14"/>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5113448" y="414675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03617" y="2185987"/>
            <a:ext cx="2952751" cy="356235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249483" y="1888837"/>
            <a:ext cx="2819400" cy="3562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843025" y="2291069"/>
            <a:ext cx="1579278" cy="523220"/>
          </a:xfrm>
          <a:prstGeom prst="rect">
            <a:avLst/>
          </a:prstGeom>
          <a:noFill/>
        </p:spPr>
        <p:txBody>
          <a:bodyPr wrap="none" rtlCol="0">
            <a:spAutoFit/>
          </a:bodyPr>
          <a:lstStyle/>
          <a:p>
            <a:r>
              <a:rPr lang="en-US" altLang="zh-CN" sz="2800" b="1" dirty="0">
                <a:solidFill>
                  <a:schemeClr val="accent4">
                    <a:lumMod val="50000"/>
                  </a:schemeClr>
                </a:solidFill>
                <a:cs typeface="+mn-ea"/>
              </a:rPr>
              <a:t>Scenario</a:t>
            </a:r>
            <a:endParaRPr lang="zh-CN" altLang="en-US" sz="2800" b="1" dirty="0">
              <a:solidFill>
                <a:schemeClr val="accent4">
                  <a:lumMod val="50000"/>
                </a:schemeClr>
              </a:solidFill>
              <a:cs typeface="+mn-ea"/>
              <a:sym typeface="+mn-lt"/>
            </a:endParaRPr>
          </a:p>
        </p:txBody>
      </p:sp>
      <p:sp>
        <p:nvSpPr>
          <p:cNvPr id="7" name="文本框 6"/>
          <p:cNvSpPr txBox="1"/>
          <p:nvPr/>
        </p:nvSpPr>
        <p:spPr>
          <a:xfrm>
            <a:off x="1405299" y="2919371"/>
            <a:ext cx="2507768" cy="1938992"/>
          </a:xfrm>
          <a:prstGeom prst="rect">
            <a:avLst/>
          </a:prstGeom>
          <a:noFill/>
        </p:spPr>
        <p:txBody>
          <a:bodyPr wrap="square" rtlCol="0">
            <a:spAutoFit/>
          </a:bodyPr>
          <a:lstStyle/>
          <a:p>
            <a:pPr algn="ctr"/>
            <a:r>
              <a:rPr lang="en-US" altLang="zh-CN" sz="2400" dirty="0"/>
              <a:t>Telegram campus assistant chatbot for university campus scenarios.</a:t>
            </a:r>
            <a:endParaRPr lang="zh-CN" altLang="en-US" sz="2400" dirty="0">
              <a:cs typeface="+mn-ea"/>
              <a:sym typeface="+mn-lt"/>
            </a:endParaRPr>
          </a:p>
        </p:txBody>
      </p:sp>
      <p:grpSp>
        <p:nvGrpSpPr>
          <p:cNvPr id="8" name="组合 7"/>
          <p:cNvGrpSpPr/>
          <p:nvPr/>
        </p:nvGrpSpPr>
        <p:grpSpPr>
          <a:xfrm>
            <a:off x="5467350" y="1733550"/>
            <a:ext cx="5772151" cy="895350"/>
            <a:chOff x="5467350" y="1733550"/>
            <a:chExt cx="5772150" cy="895350"/>
          </a:xfrm>
        </p:grpSpPr>
        <p:sp>
          <p:nvSpPr>
            <p:cNvPr id="9" name="矩形 8"/>
            <p:cNvSpPr/>
            <p:nvPr/>
          </p:nvSpPr>
          <p:spPr>
            <a:xfrm>
              <a:off x="6400800" y="1733550"/>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p:cNvSpPr/>
            <p:nvPr/>
          </p:nvSpPr>
          <p:spPr>
            <a:xfrm>
              <a:off x="5467350" y="186690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7119874" y="1924049"/>
              <a:ext cx="4119626" cy="461665"/>
            </a:xfrm>
            <a:prstGeom prst="rect">
              <a:avLst/>
            </a:prstGeom>
            <a:noFill/>
          </p:spPr>
          <p:txBody>
            <a:bodyPr wrap="square" rtlCol="0">
              <a:spAutoFit/>
            </a:bodyPr>
            <a:lstStyle/>
            <a:p>
              <a:r>
                <a:rPr lang="en-US" altLang="zh-CN" sz="2400" b="1" dirty="0">
                  <a:cs typeface="+mn-ea"/>
                  <a:sym typeface="+mn-lt"/>
                </a:rPr>
                <a:t>Course Q&amp;A Function</a:t>
              </a:r>
              <a:endParaRPr lang="zh-CN" altLang="en-US" sz="2400" b="1" dirty="0">
                <a:cs typeface="+mn-ea"/>
                <a:sym typeface="+mn-lt"/>
              </a:endParaRPr>
            </a:p>
          </p:txBody>
        </p:sp>
      </p:grpSp>
      <p:grpSp>
        <p:nvGrpSpPr>
          <p:cNvPr id="12" name="组合 11"/>
          <p:cNvGrpSpPr/>
          <p:nvPr/>
        </p:nvGrpSpPr>
        <p:grpSpPr>
          <a:xfrm>
            <a:off x="5467350" y="3138488"/>
            <a:ext cx="5772151" cy="895350"/>
            <a:chOff x="5467350" y="3138488"/>
            <a:chExt cx="5772150" cy="895350"/>
          </a:xfrm>
        </p:grpSpPr>
        <p:sp>
          <p:nvSpPr>
            <p:cNvPr id="13" name="矩形 12"/>
            <p:cNvSpPr/>
            <p:nvPr/>
          </p:nvSpPr>
          <p:spPr>
            <a:xfrm>
              <a:off x="6400800" y="3138488"/>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5467350" y="329565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6" name="组合 15"/>
          <p:cNvGrpSpPr/>
          <p:nvPr/>
        </p:nvGrpSpPr>
        <p:grpSpPr>
          <a:xfrm>
            <a:off x="5467350" y="4543425"/>
            <a:ext cx="5772151" cy="895350"/>
            <a:chOff x="5467350" y="4543425"/>
            <a:chExt cx="5772150" cy="895350"/>
          </a:xfrm>
        </p:grpSpPr>
        <p:sp>
          <p:nvSpPr>
            <p:cNvPr id="17" name="矩形 16"/>
            <p:cNvSpPr/>
            <p:nvPr/>
          </p:nvSpPr>
          <p:spPr>
            <a:xfrm>
              <a:off x="6400800" y="4543425"/>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5467350" y="472440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p:cNvGrpSpPr/>
          <p:nvPr/>
        </p:nvGrpSpPr>
        <p:grpSpPr>
          <a:xfrm>
            <a:off x="0" y="584035"/>
            <a:ext cx="12192000" cy="381000"/>
            <a:chOff x="0" y="584035"/>
            <a:chExt cx="12192000" cy="381000"/>
          </a:xfrm>
        </p:grpSpPr>
        <p:cxnSp>
          <p:nvCxnSpPr>
            <p:cNvPr id="20" name="直接连接符 19"/>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rot="10800000">
              <a:off x="11060824" y="584035"/>
              <a:ext cx="656896" cy="381000"/>
              <a:chOff x="307428" y="393221"/>
              <a:chExt cx="656896" cy="381000"/>
            </a:xfrm>
          </p:grpSpPr>
          <p:sp>
            <p:nvSpPr>
              <p:cNvPr id="22" name="等腰三角形 21"/>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等腰三角形 22"/>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2" name="文本框 1"/>
          <p:cNvSpPr txBox="1"/>
          <p:nvPr/>
        </p:nvSpPr>
        <p:spPr>
          <a:xfrm>
            <a:off x="358324" y="219776"/>
            <a:ext cx="2267310" cy="369332"/>
          </a:xfrm>
          <a:prstGeom prst="rect">
            <a:avLst/>
          </a:prstGeom>
          <a:solidFill>
            <a:schemeClr val="tx1"/>
          </a:solidFill>
        </p:spPr>
        <p:txBody>
          <a:bodyPr wrap="square" rtlCol="0">
            <a:spAutoFit/>
          </a:bodyPr>
          <a:lstStyle/>
          <a:p>
            <a:pPr algn="ctr"/>
            <a:r>
              <a:rPr lang="en-US" altLang="zh-CN" b="1" dirty="0">
                <a:solidFill>
                  <a:schemeClr val="bg1"/>
                </a:solidFill>
              </a:rPr>
              <a:t>Project Scenario</a:t>
            </a:r>
            <a:endParaRPr lang="zh-CN" altLang="zh-CN" b="1" dirty="0">
              <a:solidFill>
                <a:schemeClr val="bg1"/>
              </a:solidFill>
            </a:endParaRPr>
          </a:p>
        </p:txBody>
      </p:sp>
      <p:sp>
        <p:nvSpPr>
          <p:cNvPr id="3" name="文本框 2"/>
          <p:cNvSpPr txBox="1"/>
          <p:nvPr/>
        </p:nvSpPr>
        <p:spPr>
          <a:xfrm>
            <a:off x="6712596" y="3355330"/>
            <a:ext cx="4348228" cy="461665"/>
          </a:xfrm>
          <a:prstGeom prst="rect">
            <a:avLst/>
          </a:prstGeom>
          <a:noFill/>
        </p:spPr>
        <p:txBody>
          <a:bodyPr wrap="square" rtlCol="0">
            <a:spAutoFit/>
          </a:bodyPr>
          <a:lstStyle/>
          <a:p>
            <a:r>
              <a:rPr lang="en-US" altLang="zh-CN" sz="2400" b="1" dirty="0">
                <a:cs typeface="+mn-ea"/>
                <a:sym typeface="+mn-lt"/>
              </a:rPr>
              <a:t>Schedule Reminder Function</a:t>
            </a:r>
            <a:endParaRPr lang="zh-CN" altLang="en-US" sz="2400" b="1" dirty="0">
              <a:cs typeface="+mn-ea"/>
              <a:sym typeface="+mn-lt"/>
            </a:endParaRPr>
          </a:p>
        </p:txBody>
      </p:sp>
      <p:sp>
        <p:nvSpPr>
          <p:cNvPr id="24" name="文本框 23"/>
          <p:cNvSpPr txBox="1"/>
          <p:nvPr/>
        </p:nvSpPr>
        <p:spPr>
          <a:xfrm>
            <a:off x="6124432" y="4540895"/>
            <a:ext cx="5429064" cy="830997"/>
          </a:xfrm>
          <a:prstGeom prst="rect">
            <a:avLst/>
          </a:prstGeom>
          <a:noFill/>
        </p:spPr>
        <p:txBody>
          <a:bodyPr wrap="square" rtlCol="0">
            <a:spAutoFit/>
          </a:bodyPr>
          <a:lstStyle/>
          <a:p>
            <a:pPr algn="ctr"/>
            <a:r>
              <a:rPr lang="en-US" altLang="zh-CN" sz="2400" b="1" dirty="0">
                <a:cs typeface="+mn-ea"/>
                <a:sym typeface="+mn-lt"/>
              </a:rPr>
              <a:t>Personalized Recommendation Function</a:t>
            </a:r>
            <a:endParaRPr lang="zh-CN" altLang="en-US" sz="2400" b="1" dirty="0">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4" grpId="0" animBg="1"/>
      <p:bldP spid="5" grpId="0" animBg="1"/>
      <p:bldP spid="6" grpId="0"/>
      <p:bldP spid="7" grpId="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0" y="517338"/>
            <a:ext cx="12192000" cy="381000"/>
            <a:chOff x="0" y="517338"/>
            <a:chExt cx="12192000" cy="381000"/>
          </a:xfrm>
        </p:grpSpPr>
        <p:cxnSp>
          <p:nvCxnSpPr>
            <p:cNvPr id="4" name="直接连接符 3"/>
            <p:cNvCxnSpPr/>
            <p:nvPr/>
          </p:nvCxnSpPr>
          <p:spPr>
            <a:xfrm>
              <a:off x="0" y="70783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517338"/>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2" name="文本框 1"/>
          <p:cNvSpPr txBox="1"/>
          <p:nvPr/>
        </p:nvSpPr>
        <p:spPr>
          <a:xfrm>
            <a:off x="358324" y="219776"/>
            <a:ext cx="2267310" cy="369332"/>
          </a:xfrm>
          <a:prstGeom prst="rect">
            <a:avLst/>
          </a:prstGeom>
          <a:solidFill>
            <a:schemeClr val="tx1"/>
          </a:solidFill>
        </p:spPr>
        <p:txBody>
          <a:bodyPr wrap="square" rtlCol="0">
            <a:spAutoFit/>
          </a:bodyPr>
          <a:lstStyle/>
          <a:p>
            <a:pPr algn="ctr"/>
            <a:r>
              <a:rPr lang="en-US" altLang="zh-CN" b="1" dirty="0">
                <a:solidFill>
                  <a:schemeClr val="bg1"/>
                </a:solidFill>
              </a:rPr>
              <a:t>Responsibility</a:t>
            </a:r>
            <a:endParaRPr lang="zh-CN" altLang="en-US" sz="2000" dirty="0">
              <a:solidFill>
                <a:schemeClr val="bg1"/>
              </a:solidFill>
              <a:cs typeface="+mn-ea"/>
              <a:sym typeface="+mn-lt"/>
            </a:endParaRPr>
          </a:p>
        </p:txBody>
      </p:sp>
      <p:graphicFrame>
        <p:nvGraphicFramePr>
          <p:cNvPr id="3" name="表格 2"/>
          <p:cNvGraphicFramePr>
            <a:graphicFrameLocks noGrp="1"/>
          </p:cNvGraphicFramePr>
          <p:nvPr/>
        </p:nvGraphicFramePr>
        <p:xfrm>
          <a:off x="1883410" y="2114741"/>
          <a:ext cx="8425180" cy="3323531"/>
        </p:xfrm>
        <a:graphic>
          <a:graphicData uri="http://schemas.openxmlformats.org/drawingml/2006/table">
            <a:tbl>
              <a:tblPr firstRow="1" firstCol="1" bandRow="1">
                <a:tableStyleId>{5C22544A-7EE6-4342-B048-85BDC9FD1C3A}</a:tableStyleId>
              </a:tblPr>
              <a:tblGrid>
                <a:gridCol w="2808054"/>
                <a:gridCol w="2081922"/>
                <a:gridCol w="3535204"/>
              </a:tblGrid>
              <a:tr h="369281">
                <a:tc>
                  <a:txBody>
                    <a:bodyPr/>
                    <a:lstStyle/>
                    <a:p>
                      <a:pPr algn="ctr">
                        <a:buNone/>
                      </a:pPr>
                      <a:r>
                        <a:rPr lang="en-US" sz="1800" kern="100">
                          <a:effectLst/>
                        </a:rPr>
                        <a:t>Name / No.</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a:effectLst/>
                        </a:rPr>
                        <a:t>Role</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a:effectLst/>
                        </a:rPr>
                        <a:t>Responsibility</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1477125">
                <a:tc>
                  <a:txBody>
                    <a:bodyPr/>
                    <a:lstStyle/>
                    <a:p>
                      <a:pPr algn="ctr">
                        <a:buNone/>
                      </a:pPr>
                      <a:r>
                        <a:rPr lang="en-US" sz="1800" kern="100">
                          <a:effectLst/>
                        </a:rPr>
                        <a:t>Yang Bowei (25428179)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a:effectLst/>
                        </a:rPr>
                        <a:t>Leader</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a:effectLst/>
                        </a:rPr>
                        <a:t>system architecture design, cloud deployment, containerization, and CI/CD pipeline construction</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1477125">
                <a:tc>
                  <a:txBody>
                    <a:bodyPr/>
                    <a:lstStyle/>
                    <a:p>
                      <a:pPr algn="ctr">
                        <a:buNone/>
                      </a:pPr>
                      <a:r>
                        <a:rPr lang="en-US" sz="1800" kern="100">
                          <a:effectLst/>
                        </a:rPr>
                        <a:t>Ji Xinyu (25423797)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rPr>
                        <a:t>Group member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rPr>
                        <a:t>Telegram bot development, LLM API integration, database configuration, monitoring, and report writing</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0" y="505586"/>
            <a:ext cx="12192000" cy="381000"/>
            <a:chOff x="0" y="391286"/>
            <a:chExt cx="12192000" cy="381000"/>
          </a:xfrm>
        </p:grpSpPr>
        <p:cxnSp>
          <p:nvCxnSpPr>
            <p:cNvPr id="5" name="直接连接符 4"/>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rot="10800000">
              <a:off x="11060824" y="391286"/>
              <a:ext cx="656896" cy="381000"/>
              <a:chOff x="307428" y="393221"/>
              <a:chExt cx="656896" cy="381000"/>
            </a:xfrm>
          </p:grpSpPr>
          <p:sp>
            <p:nvSpPr>
              <p:cNvPr id="7" name="等腰三角形 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9" name="组合 18"/>
          <p:cNvGrpSpPr/>
          <p:nvPr/>
        </p:nvGrpSpPr>
        <p:grpSpPr>
          <a:xfrm>
            <a:off x="918119" y="2074291"/>
            <a:ext cx="3253831" cy="3088254"/>
            <a:chOff x="918118" y="2074291"/>
            <a:chExt cx="3253831" cy="3088254"/>
          </a:xfrm>
        </p:grpSpPr>
        <p:sp>
          <p:nvSpPr>
            <p:cNvPr id="10" name="矩形 9"/>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02</a:t>
              </a:r>
              <a:endParaRPr lang="zh-CN" altLang="en-US" sz="11500" i="1" dirty="0">
                <a:cs typeface="+mn-ea"/>
                <a:sym typeface="+mn-lt"/>
              </a:endParaRPr>
            </a:p>
          </p:txBody>
        </p:sp>
      </p:grpSp>
      <p:sp>
        <p:nvSpPr>
          <p:cNvPr id="12" name="矩形 11"/>
          <p:cNvSpPr/>
          <p:nvPr/>
        </p:nvSpPr>
        <p:spPr>
          <a:xfrm>
            <a:off x="4645666" y="2262409"/>
            <a:ext cx="6415158" cy="2308324"/>
          </a:xfrm>
          <a:prstGeom prst="rect">
            <a:avLst/>
          </a:prstGeom>
        </p:spPr>
        <p:txBody>
          <a:bodyPr wrap="square">
            <a:spAutoFit/>
          </a:bodyPr>
          <a:lstStyle/>
          <a:p>
            <a:r>
              <a:rPr lang="en-US" altLang="zh-CN" sz="4800" b="1" dirty="0"/>
              <a:t>System Design and Technical Implementation</a:t>
            </a:r>
            <a:endParaRPr lang="zh-CN" altLang="zh-CN" sz="4800" dirty="0"/>
          </a:p>
        </p:txBody>
      </p:sp>
      <p:grpSp>
        <p:nvGrpSpPr>
          <p:cNvPr id="14" name="组合 13"/>
          <p:cNvGrpSpPr/>
          <p:nvPr/>
        </p:nvGrpSpPr>
        <p:grpSpPr>
          <a:xfrm>
            <a:off x="10657819" y="2644915"/>
            <a:ext cx="555708" cy="1855199"/>
            <a:chOff x="9448800" y="2089837"/>
            <a:chExt cx="1428750" cy="2731515"/>
          </a:xfrm>
        </p:grpSpPr>
        <p:cxnSp>
          <p:nvCxnSpPr>
            <p:cNvPr id="15" name="直接连接符 14"/>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4884848" y="467614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0" y="550926"/>
            <a:ext cx="12192000" cy="381000"/>
            <a:chOff x="0" y="391286"/>
            <a:chExt cx="12192000" cy="381000"/>
          </a:xfrm>
        </p:grpSpPr>
        <p:cxnSp>
          <p:nvCxnSpPr>
            <p:cNvPr id="8" name="直接连接符 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rot="10800000">
              <a:off x="11060824" y="391286"/>
              <a:ext cx="656896" cy="381000"/>
              <a:chOff x="307428" y="393221"/>
              <a:chExt cx="656896" cy="381000"/>
            </a:xfrm>
          </p:grpSpPr>
          <p:sp>
            <p:nvSpPr>
              <p:cNvPr id="10" name="等腰三角形 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9" name="AutoShape 2"/>
          <p:cNvSpPr/>
          <p:nvPr/>
        </p:nvSpPr>
        <p:spPr>
          <a:xfrm>
            <a:off x="654685" y="741680"/>
            <a:ext cx="5080000" cy="508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3200" b="1">
                <a:solidFill>
                  <a:srgbClr val="1F2937"/>
                </a:solidFill>
                <a:latin typeface="Noto Sans SC" panose="020B0200000000000000" charset="-122"/>
                <a:ea typeface="Noto Sans SC" panose="020B0200000000000000" charset="-122"/>
                <a:cs typeface="Noto Sans SC" panose="020B0200000000000000" charset="-122"/>
              </a:rPr>
              <a:t>System Architecture</a:t>
            </a:r>
            <a:endParaRPr lang="en-US" sz="3200" b="1">
              <a:solidFill>
                <a:srgbClr val="1F2937"/>
              </a:solidFill>
              <a:latin typeface="Noto Sans SC" panose="020B0200000000000000" charset="-122"/>
              <a:ea typeface="Noto Sans SC" panose="020B0200000000000000" charset="-122"/>
              <a:cs typeface="Noto Sans SC" panose="020B0200000000000000" charset="-122"/>
            </a:endParaRPr>
          </a:p>
          <a:p>
            <a:pPr indent="0" algn="l">
              <a:lnSpc>
                <a:spcPct val="125000"/>
              </a:lnSpc>
              <a:defRPr/>
            </a:pPr>
            <a:endParaRPr lang="en-US" altLang="zh-CN" sz="1100"/>
          </a:p>
        </p:txBody>
      </p:sp>
      <p:sp>
        <p:nvSpPr>
          <p:cNvPr id="20" name="AutoShape 3"/>
          <p:cNvSpPr/>
          <p:nvPr/>
        </p:nvSpPr>
        <p:spPr>
          <a:xfrm>
            <a:off x="743585" y="1524000"/>
            <a:ext cx="1524000" cy="4826000"/>
          </a:xfrm>
          <a:prstGeom prst="roundRect">
            <a:avLst>
              <a:gd name="adj" fmla="val 1000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1" name="AutoShape 4"/>
          <p:cNvSpPr/>
          <p:nvPr/>
        </p:nvSpPr>
        <p:spPr>
          <a:xfrm>
            <a:off x="743585" y="1524000"/>
            <a:ext cx="1524000" cy="558800"/>
          </a:xfrm>
          <a:prstGeom prst="roundRect">
            <a:avLst>
              <a:gd name="adj" fmla="val 27272"/>
            </a:avLst>
          </a:prstGeom>
          <a:solidFill>
            <a:srgbClr val="F9731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User access layer</a:t>
            </a:r>
            <a:endPar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100"/>
          </a:p>
        </p:txBody>
      </p:sp>
      <p:pic>
        <p:nvPicPr>
          <p:cNvPr id="22"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99185" y="2413000"/>
            <a:ext cx="812800" cy="812800"/>
          </a:xfrm>
          <a:prstGeom prst="rect">
            <a:avLst/>
          </a:prstGeom>
        </p:spPr>
      </p:pic>
      <p:sp>
        <p:nvSpPr>
          <p:cNvPr id="23" name="AutoShape 6"/>
          <p:cNvSpPr/>
          <p:nvPr/>
        </p:nvSpPr>
        <p:spPr>
          <a:xfrm>
            <a:off x="870585" y="3556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End User</a:t>
            </a:r>
            <a:endPar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100"/>
          </a:p>
        </p:txBody>
      </p:sp>
      <p:sp>
        <p:nvSpPr>
          <p:cNvPr id="24" name="AutoShape 7"/>
          <p:cNvSpPr/>
          <p:nvPr/>
        </p:nvSpPr>
        <p:spPr>
          <a:xfrm>
            <a:off x="870585" y="4191000"/>
            <a:ext cx="1270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altLang="zh-CN"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Telegram App initiates command interaction</a:t>
            </a:r>
            <a:endParaRPr lang="en-US" sz="1100"/>
          </a:p>
        </p:txBody>
      </p:sp>
      <p:sp>
        <p:nvSpPr>
          <p:cNvPr id="25" name="AutoShape 8"/>
          <p:cNvSpPr/>
          <p:nvPr/>
        </p:nvSpPr>
        <p:spPr>
          <a:xfrm>
            <a:off x="2458085" y="1524000"/>
            <a:ext cx="1651000" cy="4826000"/>
          </a:xfrm>
          <a:prstGeom prst="roundRect">
            <a:avLst>
              <a:gd name="adj" fmla="val 923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6" name="AutoShape 9"/>
          <p:cNvSpPr/>
          <p:nvPr/>
        </p:nvSpPr>
        <p:spPr>
          <a:xfrm>
            <a:off x="2458085" y="1524000"/>
            <a:ext cx="1651000" cy="558800"/>
          </a:xfrm>
          <a:prstGeom prst="roundRect">
            <a:avLst>
              <a:gd name="adj" fmla="val 27272"/>
            </a:avLst>
          </a:prstGeom>
          <a:solidFill>
            <a:srgbClr val="F9731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Gateway access layer</a:t>
            </a:r>
            <a:endParaRPr lang="en-US" sz="1100"/>
          </a:p>
        </p:txBody>
      </p:sp>
      <p:pic>
        <p:nvPicPr>
          <p:cNvPr id="27" name="Picture 10"/>
          <p:cNvPicPr>
            <a:picLocks noChangeAspect="1"/>
          </p:cNvPicPr>
          <p:nvPr/>
        </p:nvPicPr>
        <p:blipFill>
          <a:blip r:embed="rId3"/>
          <a:srcRect/>
          <a:stretch>
            <a:fillRect/>
          </a:stretch>
        </p:blipFill>
        <p:spPr>
          <a:xfrm>
            <a:off x="2775585" y="2413000"/>
            <a:ext cx="1016000" cy="1016000"/>
          </a:xfrm>
          <a:prstGeom prst="roundRect">
            <a:avLst>
              <a:gd name="adj" fmla="val 15000"/>
            </a:avLst>
          </a:prstGeom>
          <a:noFill/>
          <a:ln w="25400" cap="flat" cmpd="sng">
            <a:noFill/>
            <a:prstDash val="solid"/>
            <a:round/>
          </a:ln>
        </p:spPr>
      </p:pic>
      <p:sp>
        <p:nvSpPr>
          <p:cNvPr id="28" name="AutoShape 11"/>
          <p:cNvSpPr/>
          <p:nvPr/>
        </p:nvSpPr>
        <p:spPr>
          <a:xfrm>
            <a:off x="2585085" y="3683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Bot API </a:t>
            </a:r>
            <a:endParaRPr lang="en-US" sz="1100"/>
          </a:p>
        </p:txBody>
      </p:sp>
      <p:sp>
        <p:nvSpPr>
          <p:cNvPr id="29" name="AutoShape 12"/>
          <p:cNvSpPr/>
          <p:nvPr/>
        </p:nvSpPr>
        <p:spPr>
          <a:xfrm>
            <a:off x="2585085" y="4318000"/>
            <a:ext cx="1397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altLang="zh-CN"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Real time message forwarding</a:t>
            </a:r>
            <a:endParaRPr lang="en-US" sz="1100"/>
          </a:p>
        </p:txBody>
      </p:sp>
      <p:sp>
        <p:nvSpPr>
          <p:cNvPr id="30" name="AutoShape 13"/>
          <p:cNvSpPr/>
          <p:nvPr/>
        </p:nvSpPr>
        <p:spPr>
          <a:xfrm>
            <a:off x="4299585" y="1524000"/>
            <a:ext cx="1778000" cy="4826000"/>
          </a:xfrm>
          <a:prstGeom prst="roundRect">
            <a:avLst>
              <a:gd name="adj" fmla="val 8571"/>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1" name="AutoShape 14"/>
          <p:cNvSpPr/>
          <p:nvPr/>
        </p:nvSpPr>
        <p:spPr>
          <a:xfrm>
            <a:off x="4299585" y="1524000"/>
            <a:ext cx="1778000" cy="558800"/>
          </a:xfrm>
          <a:prstGeom prst="roundRect">
            <a:avLst>
              <a:gd name="adj" fmla="val 27272"/>
            </a:avLst>
          </a:prstGeom>
          <a:solidFill>
            <a:srgbClr val="F9731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application layer</a:t>
            </a:r>
            <a:endParaRPr lang="en-US" sz="1100"/>
          </a:p>
        </p:txBody>
      </p:sp>
      <p:pic>
        <p:nvPicPr>
          <p:cNvPr id="32"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4085" y="2413000"/>
            <a:ext cx="889000" cy="889000"/>
          </a:xfrm>
          <a:prstGeom prst="rect">
            <a:avLst/>
          </a:prstGeom>
        </p:spPr>
      </p:pic>
      <p:sp>
        <p:nvSpPr>
          <p:cNvPr id="33" name="AutoShape 16"/>
          <p:cNvSpPr/>
          <p:nvPr/>
        </p:nvSpPr>
        <p:spPr>
          <a:xfrm>
            <a:off x="4426585" y="3556000"/>
            <a:ext cx="152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AWS EC2</a:t>
            </a:r>
            <a:endParaRPr lang="en-US" sz="1100"/>
          </a:p>
        </p:txBody>
      </p:sp>
      <p:sp>
        <p:nvSpPr>
          <p:cNvPr id="34" name="AutoShape 17"/>
          <p:cNvSpPr/>
          <p:nvPr/>
        </p:nvSpPr>
        <p:spPr>
          <a:xfrm>
            <a:off x="4426585" y="4191000"/>
            <a:ext cx="1524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5"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53585" y="4381500"/>
            <a:ext cx="406400" cy="406400"/>
          </a:xfrm>
          <a:prstGeom prst="rect">
            <a:avLst/>
          </a:prstGeom>
        </p:spPr>
      </p:pic>
      <p:pic>
        <p:nvPicPr>
          <p:cNvPr id="36" name="Picture 19"/>
          <p:cNvPicPr>
            <a:picLocks noChangeAspect="1"/>
          </p:cNvPicPr>
          <p:nvPr/>
        </p:nvPicPr>
        <p:blipFill>
          <a:blip r:embed="rId8"/>
          <a:srcRect l="5500" r="5500"/>
          <a:stretch>
            <a:fillRect/>
          </a:stretch>
        </p:blipFill>
        <p:spPr>
          <a:xfrm>
            <a:off x="5125085" y="4381500"/>
            <a:ext cx="406400" cy="406400"/>
          </a:xfrm>
          <a:prstGeom prst="roundRect">
            <a:avLst>
              <a:gd name="adj" fmla="val 25000"/>
            </a:avLst>
          </a:prstGeom>
          <a:noFill/>
          <a:ln w="25400" cap="flat" cmpd="sng">
            <a:noFill/>
            <a:prstDash val="solid"/>
            <a:round/>
          </a:ln>
        </p:spPr>
      </p:pic>
      <p:sp>
        <p:nvSpPr>
          <p:cNvPr id="37" name="AutoShape 20"/>
          <p:cNvSpPr/>
          <p:nvPr/>
        </p:nvSpPr>
        <p:spPr>
          <a:xfrm>
            <a:off x="4490085" y="4953000"/>
            <a:ext cx="1397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 Docker</a:t>
            </a:r>
            <a:endParaRPr lang="en-US" sz="1100"/>
          </a:p>
        </p:txBody>
      </p:sp>
      <p:sp>
        <p:nvSpPr>
          <p:cNvPr id="38" name="AutoShape 21"/>
          <p:cNvSpPr/>
          <p:nvPr/>
        </p:nvSpPr>
        <p:spPr>
          <a:xfrm>
            <a:off x="6268085" y="1524000"/>
            <a:ext cx="2286000" cy="4826000"/>
          </a:xfrm>
          <a:prstGeom prst="roundRect">
            <a:avLst>
              <a:gd name="adj" fmla="val 6666"/>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9" name="AutoShape 22"/>
          <p:cNvSpPr/>
          <p:nvPr/>
        </p:nvSpPr>
        <p:spPr>
          <a:xfrm>
            <a:off x="6268085" y="1524000"/>
            <a:ext cx="2286000" cy="558800"/>
          </a:xfrm>
          <a:prstGeom prst="roundRect">
            <a:avLst>
              <a:gd name="adj" fmla="val 27272"/>
            </a:avLst>
          </a:prstGeom>
          <a:solidFill>
            <a:srgbClr val="F9731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Service Support Layer</a:t>
            </a:r>
            <a:endPar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100"/>
          </a:p>
        </p:txBody>
      </p:sp>
      <p:sp>
        <p:nvSpPr>
          <p:cNvPr id="44" name="AutoShape 27"/>
          <p:cNvSpPr/>
          <p:nvPr/>
        </p:nvSpPr>
        <p:spPr>
          <a:xfrm>
            <a:off x="6458585" y="2413000"/>
            <a:ext cx="1905000" cy="1079500"/>
          </a:xfrm>
          <a:prstGeom prst="roundRect">
            <a:avLst>
              <a:gd name="adj" fmla="val 9411"/>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5" name="Picture 28"/>
          <p:cNvPicPr>
            <a:picLocks noChangeAspect="1"/>
          </p:cNvPicPr>
          <p:nvPr/>
        </p:nvPicPr>
        <p:blipFill>
          <a:blip r:embed="rId9"/>
          <a:srcRect/>
          <a:stretch>
            <a:fillRect/>
          </a:stretch>
        </p:blipFill>
        <p:spPr>
          <a:xfrm>
            <a:off x="6585585" y="2508250"/>
            <a:ext cx="508000" cy="508000"/>
          </a:xfrm>
          <a:prstGeom prst="roundRect">
            <a:avLst>
              <a:gd name="adj" fmla="val 20000"/>
            </a:avLst>
          </a:prstGeom>
          <a:noFill/>
          <a:ln w="25400" cap="flat" cmpd="sng">
            <a:noFill/>
            <a:prstDash val="solid"/>
            <a:round/>
          </a:ln>
        </p:spPr>
      </p:pic>
      <p:sp>
        <p:nvSpPr>
          <p:cNvPr id="46" name="AutoShape 29"/>
          <p:cNvSpPr/>
          <p:nvPr/>
        </p:nvSpPr>
        <p:spPr>
          <a:xfrm>
            <a:off x="7220585" y="2603500"/>
            <a:ext cx="1016000" cy="317500"/>
          </a:xfrm>
          <a:prstGeom prst="rect">
            <a:avLst/>
          </a:prstGeom>
          <a:noFill/>
          <a:ln w="12700" cap="flat" cmpd="sng">
            <a:noFill/>
            <a:prstDash val="solid"/>
            <a:round/>
          </a:ln>
        </p:spPr>
        <p:txBody>
          <a:bodyPr vert="horz" wrap="square" lIns="0" tIns="0" rIns="0" bIns="0" rtlCol="0" anchor="ctr" anchorCtr="0"/>
          <a:lstStyle/>
          <a:p>
            <a:pPr algn="ctr">
              <a:lnSpc>
                <a:spcPct val="125000"/>
              </a:lnSpc>
              <a:buClrTx/>
              <a:buSzTx/>
              <a:buFontTx/>
              <a:defRPr/>
            </a:pPr>
            <a:r>
              <a:rPr lang="en-US" sz="1400" b="1">
                <a:solidFill>
                  <a:srgbClr val="1F2937"/>
                </a:solidFill>
                <a:latin typeface="Noto Sans SC" panose="020B0200000000000000" charset="-122"/>
                <a:ea typeface="Noto Sans SC" panose="020B0200000000000000" charset="-122"/>
                <a:cs typeface="Noto Sans SC" panose="020B0200000000000000" charset="-122"/>
              </a:rPr>
              <a:t>Redis Cache</a:t>
            </a:r>
            <a:endParaRPr lang="en-US" sz="1400" b="1">
              <a:solidFill>
                <a:srgbClr val="1F2937"/>
              </a:solidFill>
              <a:latin typeface="Noto Sans SC" panose="020B0200000000000000" charset="-122"/>
              <a:ea typeface="Noto Sans SC" panose="020B0200000000000000" charset="-122"/>
              <a:cs typeface="Noto Sans SC" panose="020B0200000000000000" charset="-122"/>
            </a:endParaRPr>
          </a:p>
          <a:p>
            <a:pPr indent="0" algn="l">
              <a:lnSpc>
                <a:spcPct val="125000"/>
              </a:lnSpc>
              <a:defRPr/>
            </a:pPr>
            <a:endParaRPr lang="en-US" altLang="zh-CN" sz="1100"/>
          </a:p>
        </p:txBody>
      </p:sp>
      <p:sp>
        <p:nvSpPr>
          <p:cNvPr id="47" name="AutoShape 30"/>
          <p:cNvSpPr/>
          <p:nvPr/>
        </p:nvSpPr>
        <p:spPr>
          <a:xfrm>
            <a:off x="7220585" y="2921000"/>
            <a:ext cx="101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Historical context/status</a:t>
            </a:r>
            <a:endParaRPr lang="en-US" sz="1100"/>
          </a:p>
        </p:txBody>
      </p:sp>
      <p:sp>
        <p:nvSpPr>
          <p:cNvPr id="48" name="AutoShape 31"/>
          <p:cNvSpPr/>
          <p:nvPr/>
        </p:nvSpPr>
        <p:spPr>
          <a:xfrm>
            <a:off x="6458585" y="4191000"/>
            <a:ext cx="1905000" cy="1079500"/>
          </a:xfrm>
          <a:prstGeom prst="roundRect">
            <a:avLst>
              <a:gd name="adj" fmla="val 9411"/>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9" name="Picture 32"/>
          <p:cNvPicPr>
            <a:picLocks noChangeAspect="1"/>
          </p:cNvPicPr>
          <p:nvPr/>
        </p:nvPicPr>
        <p:blipFill>
          <a:blip r:embed="rId10"/>
          <a:srcRect l="23875" r="23874"/>
          <a:stretch>
            <a:fillRect/>
          </a:stretch>
        </p:blipFill>
        <p:spPr>
          <a:xfrm>
            <a:off x="6585585" y="4381500"/>
            <a:ext cx="508000" cy="444500"/>
          </a:xfrm>
          <a:prstGeom prst="roundRect">
            <a:avLst>
              <a:gd name="adj" fmla="val 20000"/>
            </a:avLst>
          </a:prstGeom>
          <a:noFill/>
          <a:ln w="25400" cap="flat" cmpd="sng">
            <a:noFill/>
            <a:prstDash val="solid"/>
            <a:round/>
          </a:ln>
        </p:spPr>
      </p:pic>
      <p:sp>
        <p:nvSpPr>
          <p:cNvPr id="50" name="AutoShape 33"/>
          <p:cNvSpPr/>
          <p:nvPr/>
        </p:nvSpPr>
        <p:spPr>
          <a:xfrm>
            <a:off x="7220585" y="44704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CloudWatch</a:t>
            </a:r>
            <a:endParaRPr lang="en-US" sz="1100"/>
          </a:p>
        </p:txBody>
      </p:sp>
      <p:sp>
        <p:nvSpPr>
          <p:cNvPr id="51" name="AutoShape 34"/>
          <p:cNvSpPr/>
          <p:nvPr/>
        </p:nvSpPr>
        <p:spPr>
          <a:xfrm>
            <a:off x="7347585" y="4826000"/>
            <a:ext cx="101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log collection</a:t>
            </a:r>
            <a:endParaRPr lang="en-US" altLang="zh-CN"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sz="1100"/>
          </a:p>
        </p:txBody>
      </p:sp>
      <p:sp>
        <p:nvSpPr>
          <p:cNvPr id="52" name="AutoShape 35"/>
          <p:cNvSpPr/>
          <p:nvPr/>
        </p:nvSpPr>
        <p:spPr>
          <a:xfrm>
            <a:off x="8744585" y="1524000"/>
            <a:ext cx="2032000" cy="4826000"/>
          </a:xfrm>
          <a:prstGeom prst="roundRect">
            <a:avLst>
              <a:gd name="adj" fmla="val 750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53" name="AutoShape 36"/>
          <p:cNvSpPr/>
          <p:nvPr/>
        </p:nvSpPr>
        <p:spPr>
          <a:xfrm>
            <a:off x="8744585" y="1524000"/>
            <a:ext cx="2032000" cy="558800"/>
          </a:xfrm>
          <a:prstGeom prst="roundRect">
            <a:avLst>
              <a:gd name="adj" fmla="val 27272"/>
            </a:avLst>
          </a:prstGeom>
          <a:solidFill>
            <a:srgbClr val="F9731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model layer</a:t>
            </a:r>
            <a:endParaRPr lang="en-US" altLang="zh-CN"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100"/>
          </a:p>
        </p:txBody>
      </p:sp>
      <p:pic>
        <p:nvPicPr>
          <p:cNvPr id="54" name="Picture 3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52585" y="2413000"/>
            <a:ext cx="1016000" cy="1016000"/>
          </a:xfrm>
          <a:prstGeom prst="rect">
            <a:avLst/>
          </a:prstGeom>
        </p:spPr>
      </p:pic>
      <p:sp>
        <p:nvSpPr>
          <p:cNvPr id="55" name="AutoShape 38"/>
          <p:cNvSpPr/>
          <p:nvPr/>
        </p:nvSpPr>
        <p:spPr>
          <a:xfrm>
            <a:off x="8871585" y="3683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Intelligent reasoning core</a:t>
            </a:r>
            <a:endPar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100"/>
          </a:p>
        </p:txBody>
      </p:sp>
      <p:sp>
        <p:nvSpPr>
          <p:cNvPr id="56" name="AutoShape 39"/>
          <p:cNvSpPr/>
          <p:nvPr/>
        </p:nvSpPr>
        <p:spPr>
          <a:xfrm>
            <a:off x="8871585" y="4318000"/>
            <a:ext cx="1778000" cy="889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altLang="zh-CN" sz="1000">
                <a:solidFill>
                  <a:srgbClr val="6B7280"/>
                </a:solidFill>
                <a:latin typeface="Noto Sans SC" panose="020B0200000000000000" charset="-122"/>
                <a:ea typeface="Noto Sans SC" panose="020B0200000000000000" charset="-122"/>
                <a:cs typeface="Noto Sans SC" panose="020B0200000000000000" charset="-122"/>
              </a:rPr>
              <a:t>HKBU LLM API remote call</a:t>
            </a:r>
            <a:endParaRPr lang="en-US" altLang="zh-CN" sz="1100"/>
          </a:p>
          <a:p>
            <a:pPr indent="0" algn="ctr">
              <a:lnSpc>
                <a:spcPct val="108000"/>
              </a:lnSpc>
              <a:defRPr/>
            </a:pPr>
            <a:endParaRPr lang="en-US" altLang="zh-CN" sz="1100"/>
          </a:p>
        </p:txBody>
      </p:sp>
      <p:pic>
        <p:nvPicPr>
          <p:cNvPr id="57" name="Picture 4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140585" y="3302000"/>
            <a:ext cx="254000" cy="254000"/>
          </a:xfrm>
          <a:prstGeom prst="rect">
            <a:avLst/>
          </a:prstGeom>
        </p:spPr>
      </p:pic>
      <p:pic>
        <p:nvPicPr>
          <p:cNvPr id="58" name="Picture 4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9085" y="3302000"/>
            <a:ext cx="254000" cy="254000"/>
          </a:xfrm>
          <a:prstGeom prst="rect">
            <a:avLst/>
          </a:prstGeom>
        </p:spPr>
      </p:pic>
      <p:pic>
        <p:nvPicPr>
          <p:cNvPr id="59" name="Picture 4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014085" y="3302000"/>
            <a:ext cx="254000" cy="254000"/>
          </a:xfrm>
          <a:prstGeom prst="rect">
            <a:avLst/>
          </a:prstGeom>
        </p:spPr>
      </p:pic>
      <p:pic>
        <p:nvPicPr>
          <p:cNvPr id="60" name="Picture 4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490585" y="3302000"/>
            <a:ext cx="254000" cy="254000"/>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36"/>
          <p:cNvSpPr/>
          <p:nvPr/>
        </p:nvSpPr>
        <p:spPr>
          <a:xfrm>
            <a:off x="558165" y="1036955"/>
            <a:ext cx="11075670" cy="5293995"/>
          </a:xfrm>
          <a:prstGeom prst="roundRect">
            <a:avLst>
              <a:gd name="adj" fmla="val 9230"/>
            </a:avLst>
          </a:prstGeom>
          <a:solidFill>
            <a:srgbClr val="FFF7ED">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文本框 4"/>
          <p:cNvSpPr txBox="1"/>
          <p:nvPr/>
        </p:nvSpPr>
        <p:spPr>
          <a:xfrm>
            <a:off x="1848485" y="3237230"/>
            <a:ext cx="8046720" cy="1466215"/>
          </a:xfrm>
          <a:prstGeom prst="rect">
            <a:avLst/>
          </a:prstGeom>
          <a:noFill/>
        </p:spPr>
        <p:txBody>
          <a:bodyPr wrap="square" rtlCol="0">
            <a:noAutofit/>
          </a:bodyPr>
          <a:lstStyle/>
          <a:p>
            <a:pPr algn="l">
              <a:lnSpc>
                <a:spcPct val="108000"/>
              </a:lnSpc>
              <a:buClrTx/>
              <a:buSzTx/>
              <a:buFontTx/>
              <a:defRPr/>
            </a:pPr>
            <a:r>
              <a:rPr lang="en-US" altLang="zh-CN" sz="1600">
                <a:solidFill>
                  <a:srgbClr val="4B5563"/>
                </a:solidFill>
                <a:latin typeface="Times New Roman" panose="02020603050405020304" pitchFamily="18" charset="0"/>
                <a:ea typeface="宋体" panose="02010600030101010101" pitchFamily="2" charset="-122"/>
                <a:cs typeface="Times New Roman" panose="02020603050405020304" pitchFamily="18" charset="0"/>
                <a:sym typeface="+mn-lt"/>
              </a:rPr>
              <a:t>This is the result of executing the docker compose ps command on an EC2 server. As you can see, the status of the service named bot-1 is displayed as Up, indicating that our robot application has successfully started and is running stably in the Docker container.</a:t>
            </a:r>
            <a:endParaRPr lang="en-US" altLang="zh-CN" sz="1600">
              <a:solidFill>
                <a:srgbClr val="4B5563"/>
              </a:solidFill>
              <a:latin typeface="Times New Roman" panose="02020603050405020304" pitchFamily="18" charset="0"/>
              <a:ea typeface="宋体" panose="02010600030101010101" pitchFamily="2" charset="-122"/>
              <a:cs typeface="Times New Roman" panose="02020603050405020304" pitchFamily="18" charset="0"/>
              <a:sym typeface="+mn-lt"/>
            </a:endParaRPr>
          </a:p>
          <a:p>
            <a:pPr algn="ctr"/>
            <a:endParaRPr lang="en-US" altLang="zh-CN" sz="1600" dirty="0">
              <a:solidFill>
                <a:srgbClr val="4B5563"/>
              </a:solidFill>
              <a:latin typeface="Times New Roman" panose="02020603050405020304" pitchFamily="18" charset="0"/>
              <a:ea typeface="宋体" panose="02010600030101010101" pitchFamily="2" charset="-122"/>
              <a:cs typeface="Times New Roman" panose="02020603050405020304" pitchFamily="18" charset="0"/>
              <a:sym typeface="+mn-lt"/>
            </a:endParaRPr>
          </a:p>
        </p:txBody>
      </p:sp>
      <p:grpSp>
        <p:nvGrpSpPr>
          <p:cNvPr id="13" name="组合 12"/>
          <p:cNvGrpSpPr/>
          <p:nvPr/>
        </p:nvGrpSpPr>
        <p:grpSpPr>
          <a:xfrm>
            <a:off x="0" y="550926"/>
            <a:ext cx="12192000" cy="381000"/>
            <a:chOff x="0" y="391286"/>
            <a:chExt cx="12192000" cy="381000"/>
          </a:xfrm>
        </p:grpSpPr>
        <p:cxnSp>
          <p:nvCxnSpPr>
            <p:cNvPr id="8" name="直接连接符 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rot="10800000">
              <a:off x="11060824" y="391286"/>
              <a:ext cx="656896" cy="381000"/>
              <a:chOff x="307428" y="393221"/>
              <a:chExt cx="656896" cy="381000"/>
            </a:xfrm>
          </p:grpSpPr>
          <p:sp>
            <p:nvSpPr>
              <p:cNvPr id="10" name="等腰三角形 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7" name="AutoShape 37"/>
          <p:cNvSpPr/>
          <p:nvPr/>
        </p:nvSpPr>
        <p:spPr>
          <a:xfrm>
            <a:off x="1848485" y="1228090"/>
            <a:ext cx="4860290" cy="38036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Empowering the standardized container ecosystem</a:t>
            </a:r>
            <a:endParaRPr lang="en-US" altLang="zh-CN"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sz="1100"/>
          </a:p>
        </p:txBody>
      </p:sp>
      <p:sp>
        <p:nvSpPr>
          <p:cNvPr id="38" name="AutoShape 38"/>
          <p:cNvSpPr/>
          <p:nvPr/>
        </p:nvSpPr>
        <p:spPr>
          <a:xfrm>
            <a:off x="1848485" y="1671955"/>
            <a:ext cx="4318000" cy="1381125"/>
          </a:xfrm>
          <a:prstGeom prst="rect">
            <a:avLst/>
          </a:prstGeom>
          <a:noFill/>
          <a:ln w="12700" cap="flat" cmpd="sng">
            <a:noFill/>
            <a:prstDash val="solid"/>
            <a:round/>
          </a:ln>
        </p:spPr>
        <p:txBody>
          <a:bodyPr vert="horz" wrap="square" lIns="0" tIns="0" rIns="0" bIns="0" rtlCol="0" anchor="ctr" anchorCtr="0"/>
          <a:lstStyle/>
          <a:p>
            <a:pPr algn="l">
              <a:lnSpc>
                <a:spcPct val="108000"/>
              </a:lnSpc>
              <a:buClrTx/>
              <a:buSzTx/>
              <a:buFontTx/>
              <a:defRPr/>
            </a:pPr>
            <a:r>
              <a:rPr lang="en-US" altLang="zh-CN" sz="1600" b="0" i="0" u="none" strike="noStrike">
                <a:solidFill>
                  <a:srgbClr val="4B5563"/>
                </a:solidFill>
                <a:latin typeface="Times New Roman" panose="02020603050405020304" pitchFamily="18" charset="0"/>
                <a:ea typeface="宋体" panose="02010600030101010101" pitchFamily="2" charset="-122"/>
                <a:cs typeface="Times New Roman" panose="02020603050405020304" pitchFamily="18" charset="0"/>
                <a:sym typeface="Noto Sans SC" panose="020B0200000000000000" charset="-122"/>
              </a:rPr>
              <a:t>With the mature container ecosystem of Docker and AWS cloud services, we can easily achieve rapid iteration and delivery of applications, as well as elastic scaling and expansion.</a:t>
            </a:r>
            <a:endParaRPr lang="en-US" altLang="zh-CN" sz="1600">
              <a:solidFill>
                <a:srgbClr val="4B5563"/>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9" name="Picture 39"/>
          <p:cNvPicPr>
            <a:picLocks noChangeAspect="1"/>
          </p:cNvPicPr>
          <p:nvPr/>
        </p:nvPicPr>
        <p:blipFill>
          <a:blip r:embed="rId1"/>
          <a:srcRect l="5499" r="5500"/>
          <a:stretch>
            <a:fillRect/>
          </a:stretch>
        </p:blipFill>
        <p:spPr>
          <a:xfrm>
            <a:off x="8912225" y="1227455"/>
            <a:ext cx="1967865" cy="1967865"/>
          </a:xfrm>
          <a:prstGeom prst="roundRect">
            <a:avLst>
              <a:gd name="adj" fmla="val 14545"/>
            </a:avLst>
          </a:prstGeom>
          <a:noFill/>
          <a:ln w="25400" cap="flat" cmpd="sng">
            <a:noFill/>
            <a:prstDash val="solid"/>
            <a:round/>
          </a:ln>
          <a:effectLst>
            <a:outerShdw blurRad="127000" dist="25400" dir="2700000" algn="tl" rotWithShape="0">
              <a:srgbClr val="000000">
                <a:alpha val="15000"/>
              </a:srgbClr>
            </a:outerShdw>
          </a:effectLst>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9515" y="4703445"/>
            <a:ext cx="9792970" cy="1097280"/>
          </a:xfrm>
          <a:prstGeom prst="rect">
            <a:avLst/>
          </a:prstGeom>
          <a:noFill/>
          <a:ln>
            <a:noFill/>
          </a:ln>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0" y="505586"/>
            <a:ext cx="12192000" cy="381000"/>
            <a:chOff x="0" y="391286"/>
            <a:chExt cx="12192000" cy="381000"/>
          </a:xfrm>
        </p:grpSpPr>
        <p:cxnSp>
          <p:nvCxnSpPr>
            <p:cNvPr id="5" name="直接连接符 4"/>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rot="10800000">
              <a:off x="11060824" y="391286"/>
              <a:ext cx="656896" cy="381000"/>
              <a:chOff x="307428" y="393221"/>
              <a:chExt cx="656896" cy="381000"/>
            </a:xfrm>
          </p:grpSpPr>
          <p:sp>
            <p:nvSpPr>
              <p:cNvPr id="7" name="等腰三角形 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9" name="组合 18"/>
          <p:cNvGrpSpPr/>
          <p:nvPr/>
        </p:nvGrpSpPr>
        <p:grpSpPr>
          <a:xfrm>
            <a:off x="918119" y="2074291"/>
            <a:ext cx="3253831" cy="3088254"/>
            <a:chOff x="918118" y="2074291"/>
            <a:chExt cx="3253831" cy="3088254"/>
          </a:xfrm>
        </p:grpSpPr>
        <p:sp>
          <p:nvSpPr>
            <p:cNvPr id="10" name="矩形 9"/>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03</a:t>
              </a:r>
              <a:endParaRPr lang="zh-CN" altLang="en-US" sz="11500" i="1" dirty="0">
                <a:cs typeface="+mn-ea"/>
                <a:sym typeface="+mn-lt"/>
              </a:endParaRPr>
            </a:p>
          </p:txBody>
        </p:sp>
      </p:grpSp>
      <p:sp>
        <p:nvSpPr>
          <p:cNvPr id="12" name="矩形 11"/>
          <p:cNvSpPr/>
          <p:nvPr/>
        </p:nvSpPr>
        <p:spPr>
          <a:xfrm>
            <a:off x="4520515" y="3009139"/>
            <a:ext cx="6415158" cy="830997"/>
          </a:xfrm>
          <a:prstGeom prst="rect">
            <a:avLst/>
          </a:prstGeom>
        </p:spPr>
        <p:txBody>
          <a:bodyPr wrap="square">
            <a:spAutoFit/>
          </a:bodyPr>
          <a:lstStyle/>
          <a:p>
            <a:r>
              <a:rPr lang="en-US" altLang="zh-CN" sz="4800" b="1" dirty="0"/>
              <a:t>Resources and Costs</a:t>
            </a:r>
            <a:endParaRPr lang="zh-CN" altLang="zh-CN" sz="4800" b="1" dirty="0"/>
          </a:p>
        </p:txBody>
      </p:sp>
      <p:grpSp>
        <p:nvGrpSpPr>
          <p:cNvPr id="14" name="组合 13"/>
          <p:cNvGrpSpPr/>
          <p:nvPr/>
        </p:nvGrpSpPr>
        <p:grpSpPr>
          <a:xfrm>
            <a:off x="10657819" y="2644915"/>
            <a:ext cx="555708" cy="1855199"/>
            <a:chOff x="9448800" y="2089837"/>
            <a:chExt cx="1428750" cy="2731515"/>
          </a:xfrm>
        </p:grpSpPr>
        <p:cxnSp>
          <p:nvCxnSpPr>
            <p:cNvPr id="15" name="直接连接符 14"/>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4632184" y="4122694"/>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b="37383"/>
          <a:stretch>
            <a:fillRect/>
          </a:stretch>
        </p:blipFill>
        <p:spPr bwMode="auto">
          <a:xfrm>
            <a:off x="1610995" y="920115"/>
            <a:ext cx="8463915" cy="3904615"/>
          </a:xfrm>
          <a:prstGeom prst="rect">
            <a:avLst/>
          </a:prstGeom>
          <a:noFill/>
          <a:ln>
            <a:noFill/>
          </a:ln>
        </p:spPr>
      </p:pic>
      <p:grpSp>
        <p:nvGrpSpPr>
          <p:cNvPr id="5" name="组合 4"/>
          <p:cNvGrpSpPr/>
          <p:nvPr/>
        </p:nvGrpSpPr>
        <p:grpSpPr>
          <a:xfrm>
            <a:off x="0" y="550926"/>
            <a:ext cx="12192000" cy="381000"/>
            <a:chOff x="0" y="391286"/>
            <a:chExt cx="12192000" cy="381000"/>
          </a:xfrm>
        </p:grpSpPr>
        <p:cxnSp>
          <p:nvCxnSpPr>
            <p:cNvPr id="6" name="直接连接符 5"/>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rot="10800000">
              <a:off x="11060824" y="391286"/>
              <a:ext cx="656896" cy="381000"/>
              <a:chOff x="307428" y="393221"/>
              <a:chExt cx="656896" cy="381000"/>
            </a:xfrm>
          </p:grpSpPr>
          <p:sp>
            <p:nvSpPr>
              <p:cNvPr id="8" name="等腰三角形 7"/>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等腰三角形 8"/>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0" name="AutoShape 5"/>
          <p:cNvSpPr/>
          <p:nvPr>
            <p:custDataLst>
              <p:tags r:id="rId2"/>
            </p:custDataLst>
          </p:nvPr>
        </p:nvSpPr>
        <p:spPr>
          <a:xfrm>
            <a:off x="3493135" y="482473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Cost Overview</a:t>
            </a:r>
            <a:endParaRPr lang="en-US" sz="1100"/>
          </a:p>
        </p:txBody>
      </p:sp>
      <p:sp>
        <p:nvSpPr>
          <p:cNvPr id="12" name="AutoShape 6"/>
          <p:cNvSpPr/>
          <p:nvPr>
            <p:custDataLst>
              <p:tags r:id="rId3"/>
            </p:custDataLst>
          </p:nvPr>
        </p:nvSpPr>
        <p:spPr>
          <a:xfrm>
            <a:off x="3406140" y="5283200"/>
            <a:ext cx="6003925" cy="778510"/>
          </a:xfrm>
          <a:prstGeom prst="roundRect">
            <a:avLst>
              <a:gd name="adj" fmla="val 16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635" y="5562600"/>
            <a:ext cx="304800" cy="304800"/>
          </a:xfrm>
          <a:prstGeom prst="rect">
            <a:avLst/>
          </a:prstGeom>
        </p:spPr>
      </p:pic>
      <p:sp>
        <p:nvSpPr>
          <p:cNvPr id="14" name="AutoShape 8"/>
          <p:cNvSpPr/>
          <p:nvPr>
            <p:custDataLst>
              <p:tags r:id="rId7"/>
            </p:custDataLst>
          </p:nvPr>
        </p:nvSpPr>
        <p:spPr>
          <a:xfrm>
            <a:off x="4106545" y="5324475"/>
            <a:ext cx="5304155" cy="1102995"/>
          </a:xfrm>
          <a:prstGeom prst="rect">
            <a:avLst/>
          </a:prstGeom>
          <a:noFill/>
          <a:ln w="12700" cap="flat" cmpd="sng">
            <a:noFill/>
            <a:prstDash val="solid"/>
            <a:round/>
          </a:ln>
        </p:spPr>
        <p:txBody>
          <a:bodyPr vert="horz" wrap="square" lIns="0" tIns="0" rIns="0" bIns="0" rtlCol="0" anchor="ctr" anchorCtr="0"/>
          <a:lstStyle/>
          <a:p>
            <a:pPr algn="l"/>
            <a:r>
              <a:rPr lang="en-US" altLang="zh-CN" sz="1600" dirty="0">
                <a:latin typeface="Times New Roman" panose="02020603050405020304" pitchFamily="18" charset="0"/>
                <a:cs typeface="Times New Roman" panose="02020603050405020304" pitchFamily="18" charset="0"/>
                <a:sym typeface="+mn-ea"/>
              </a:rPr>
              <a:t>The entire project is built on an AWS Free Tier account, where most basic cloud resources are covered by free credits, resulting in extremely low actual costs throughout the project cycle.</a:t>
            </a:r>
            <a:endParaRPr lang="zh-CN" altLang="zh-CN" sz="1600" dirty="0">
              <a:latin typeface="Times New Roman" panose="02020603050405020304" pitchFamily="18" charset="0"/>
              <a:cs typeface="Times New Roman" panose="02020603050405020304" pitchFamily="18" charset="0"/>
            </a:endParaRPr>
          </a:p>
          <a:p>
            <a:pPr indent="0" algn="l">
              <a:lnSpc>
                <a:spcPct val="125000"/>
              </a:lnSpc>
              <a:defRPr/>
            </a:pPr>
            <a:endParaRPr lang="en-US" sz="16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550926"/>
            <a:ext cx="12192000" cy="381000"/>
            <a:chOff x="0" y="391286"/>
            <a:chExt cx="12192000" cy="381000"/>
          </a:xfrm>
        </p:grpSpPr>
        <p:cxnSp>
          <p:nvCxnSpPr>
            <p:cNvPr id="6" name="直接连接符 5"/>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rot="10800000">
              <a:off x="11060824" y="391286"/>
              <a:ext cx="656896" cy="381000"/>
              <a:chOff x="307428" y="393221"/>
              <a:chExt cx="656896" cy="381000"/>
            </a:xfrm>
          </p:grpSpPr>
          <p:sp>
            <p:nvSpPr>
              <p:cNvPr id="8" name="等腰三角形 7"/>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等腰三角形 8"/>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14170" y="932180"/>
            <a:ext cx="8963660" cy="2656840"/>
          </a:xfrm>
          <a:prstGeom prst="rect">
            <a:avLst/>
          </a:prstGeom>
          <a:noFill/>
          <a:ln>
            <a:noFill/>
          </a:ln>
        </p:spPr>
      </p:pic>
      <p:sp>
        <p:nvSpPr>
          <p:cNvPr id="19" name="AutoShape 13"/>
          <p:cNvSpPr/>
          <p:nvPr>
            <p:custDataLst>
              <p:tags r:id="rId2"/>
            </p:custDataLst>
          </p:nvPr>
        </p:nvSpPr>
        <p:spPr>
          <a:xfrm>
            <a:off x="3492500" y="4258945"/>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en-US" altLang="zh-CN"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ost Structure</a:t>
            </a:r>
            <a:endParaRPr lang="en-US" sz="1100"/>
          </a:p>
        </p:txBody>
      </p:sp>
      <p:sp>
        <p:nvSpPr>
          <p:cNvPr id="20" name="AutoShape 14"/>
          <p:cNvSpPr/>
          <p:nvPr>
            <p:custDataLst>
              <p:tags r:id="rId3"/>
            </p:custDataLst>
          </p:nvPr>
        </p:nvSpPr>
        <p:spPr>
          <a:xfrm>
            <a:off x="3492500" y="4766945"/>
            <a:ext cx="4795520" cy="897255"/>
          </a:xfrm>
          <a:prstGeom prst="roundRect">
            <a:avLst>
              <a:gd name="adj" fmla="val 16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15"/>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000" y="4919345"/>
            <a:ext cx="304800" cy="304800"/>
          </a:xfrm>
          <a:prstGeom prst="rect">
            <a:avLst/>
          </a:prstGeom>
        </p:spPr>
      </p:pic>
      <p:sp>
        <p:nvSpPr>
          <p:cNvPr id="22" name="AutoShape 16"/>
          <p:cNvSpPr/>
          <p:nvPr>
            <p:custDataLst>
              <p:tags r:id="rId7"/>
            </p:custDataLst>
          </p:nvPr>
        </p:nvSpPr>
        <p:spPr>
          <a:xfrm>
            <a:off x="4197350" y="500634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dirty="0">
                <a:latin typeface="Times New Roman" panose="02020603050405020304" pitchFamily="18" charset="0"/>
                <a:cs typeface="Times New Roman" panose="02020603050405020304" pitchFamily="18" charset="0"/>
                <a:sym typeface="+mn-ea"/>
              </a:rPr>
              <a:t>The project’s breakdown of service costs reveals the majority of expenses come from EC2-related resources</a:t>
            </a:r>
            <a:endParaRPr lang="en-US" sz="16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0" y="505586"/>
            <a:ext cx="12192000" cy="381000"/>
            <a:chOff x="0" y="391286"/>
            <a:chExt cx="12192000" cy="381000"/>
          </a:xfrm>
        </p:grpSpPr>
        <p:cxnSp>
          <p:nvCxnSpPr>
            <p:cNvPr id="5" name="直接连接符 4"/>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rot="10800000">
              <a:off x="11060824" y="391286"/>
              <a:ext cx="656896" cy="381000"/>
              <a:chOff x="307428" y="393221"/>
              <a:chExt cx="656896" cy="381000"/>
            </a:xfrm>
          </p:grpSpPr>
          <p:sp>
            <p:nvSpPr>
              <p:cNvPr id="7" name="等腰三角形 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9" name="组合 18"/>
          <p:cNvGrpSpPr/>
          <p:nvPr/>
        </p:nvGrpSpPr>
        <p:grpSpPr>
          <a:xfrm>
            <a:off x="918119" y="2074291"/>
            <a:ext cx="3253831" cy="3088254"/>
            <a:chOff x="918118" y="2074291"/>
            <a:chExt cx="3253831" cy="3088254"/>
          </a:xfrm>
        </p:grpSpPr>
        <p:sp>
          <p:nvSpPr>
            <p:cNvPr id="10" name="矩形 9"/>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04</a:t>
              </a:r>
              <a:endParaRPr lang="zh-CN" altLang="en-US" sz="11500" i="1" dirty="0">
                <a:cs typeface="+mn-ea"/>
                <a:sym typeface="+mn-lt"/>
              </a:endParaRPr>
            </a:p>
          </p:txBody>
        </p:sp>
      </p:grpSp>
      <p:sp>
        <p:nvSpPr>
          <p:cNvPr id="12" name="矩形 11"/>
          <p:cNvSpPr/>
          <p:nvPr/>
        </p:nvSpPr>
        <p:spPr>
          <a:xfrm>
            <a:off x="4750439" y="2549127"/>
            <a:ext cx="5728385" cy="1569660"/>
          </a:xfrm>
          <a:prstGeom prst="rect">
            <a:avLst/>
          </a:prstGeom>
        </p:spPr>
        <p:txBody>
          <a:bodyPr wrap="square">
            <a:spAutoFit/>
          </a:bodyPr>
          <a:lstStyle/>
          <a:p>
            <a:pPr lvl="0"/>
            <a:r>
              <a:rPr lang="en-US" altLang="zh-CN" sz="4800" b="1" dirty="0"/>
              <a:t>Project Verification and Demonstration</a:t>
            </a:r>
            <a:endParaRPr lang="zh-CN" altLang="zh-CN" sz="4800" b="1" dirty="0"/>
          </a:p>
        </p:txBody>
      </p:sp>
      <p:grpSp>
        <p:nvGrpSpPr>
          <p:cNvPr id="14" name="组合 13"/>
          <p:cNvGrpSpPr/>
          <p:nvPr/>
        </p:nvGrpSpPr>
        <p:grpSpPr>
          <a:xfrm>
            <a:off x="10657819" y="2644915"/>
            <a:ext cx="555708" cy="1855199"/>
            <a:chOff x="9448800" y="2089837"/>
            <a:chExt cx="1428750" cy="2731515"/>
          </a:xfrm>
        </p:grpSpPr>
        <p:cxnSp>
          <p:nvCxnSpPr>
            <p:cNvPr id="15" name="直接连接符 14"/>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5113448" y="450800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75637" y="5895100"/>
            <a:ext cx="10134392" cy="369332"/>
          </a:xfrm>
          <a:prstGeom prst="rect">
            <a:avLst/>
          </a:prstGeom>
          <a:noFill/>
        </p:spPr>
        <p:txBody>
          <a:bodyPr wrap="square" rtlCol="0">
            <a:spAutoFit/>
          </a:bodyPr>
          <a:lstStyle/>
          <a:p>
            <a:r>
              <a:rPr lang="en-US" altLang="zh-CN" dirty="0"/>
              <a:t>low and steady resource consumption</a:t>
            </a:r>
            <a:endParaRPr lang="en-US" altLang="zh-CN" dirty="0"/>
          </a:p>
        </p:txBody>
      </p:sp>
      <p:grpSp>
        <p:nvGrpSpPr>
          <p:cNvPr id="13" name="组合 12"/>
          <p:cNvGrpSpPr/>
          <p:nvPr/>
        </p:nvGrpSpPr>
        <p:grpSpPr>
          <a:xfrm>
            <a:off x="0" y="550926"/>
            <a:ext cx="12192000" cy="381000"/>
            <a:chOff x="0" y="391286"/>
            <a:chExt cx="12192000" cy="381000"/>
          </a:xfrm>
        </p:grpSpPr>
        <p:cxnSp>
          <p:nvCxnSpPr>
            <p:cNvPr id="8" name="直接连接符 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rot="10800000">
              <a:off x="11060824" y="391286"/>
              <a:ext cx="656896" cy="381000"/>
              <a:chOff x="307428" y="393221"/>
              <a:chExt cx="656896" cy="381000"/>
            </a:xfrm>
          </p:grpSpPr>
          <p:sp>
            <p:nvSpPr>
              <p:cNvPr id="10" name="等腰三角形 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0310" y="1230357"/>
            <a:ext cx="5432903" cy="2800222"/>
          </a:xfrm>
          <a:prstGeom prst="rect">
            <a:avLst/>
          </a:prstGeom>
          <a:noFill/>
          <a:ln>
            <a:noFill/>
          </a:ln>
        </p:spPr>
      </p:pic>
      <p:sp>
        <p:nvSpPr>
          <p:cNvPr id="4" name="文本框 3"/>
          <p:cNvSpPr txBox="1"/>
          <p:nvPr/>
        </p:nvSpPr>
        <p:spPr>
          <a:xfrm>
            <a:off x="358324" y="219776"/>
            <a:ext cx="2267310" cy="369332"/>
          </a:xfrm>
          <a:prstGeom prst="rect">
            <a:avLst/>
          </a:prstGeom>
          <a:solidFill>
            <a:schemeClr val="tx1"/>
          </a:solidFill>
        </p:spPr>
        <p:txBody>
          <a:bodyPr wrap="square" rtlCol="0">
            <a:spAutoFit/>
          </a:bodyPr>
          <a:lstStyle/>
          <a:p>
            <a:pPr algn="ctr"/>
            <a:r>
              <a:rPr lang="en-US" altLang="zh-CN" b="1" dirty="0">
                <a:solidFill>
                  <a:schemeClr val="bg1"/>
                </a:solidFill>
              </a:rPr>
              <a:t>Project Verification</a:t>
            </a:r>
            <a:endParaRPr lang="zh-CN" altLang="zh-CN" b="1" dirty="0">
              <a:solidFill>
                <a:schemeClr val="bg1"/>
              </a:solidFill>
            </a:endParaRPr>
          </a:p>
        </p:txBody>
      </p:sp>
      <p:sp>
        <p:nvSpPr>
          <p:cNvPr id="14" name="文本框 13"/>
          <p:cNvSpPr txBox="1"/>
          <p:nvPr/>
        </p:nvSpPr>
        <p:spPr>
          <a:xfrm>
            <a:off x="4475637" y="4393754"/>
            <a:ext cx="3049875" cy="369332"/>
          </a:xfrm>
          <a:prstGeom prst="rect">
            <a:avLst/>
          </a:prstGeom>
          <a:noFill/>
        </p:spPr>
        <p:txBody>
          <a:bodyPr wrap="square" rtlCol="0">
            <a:spAutoFit/>
          </a:bodyPr>
          <a:lstStyle/>
          <a:p>
            <a:r>
              <a:rPr lang="en-US" altLang="zh-CN" dirty="0"/>
              <a:t>EC2 instance runs properly </a:t>
            </a:r>
            <a:endParaRPr lang="zh-CN" altLang="en-US" sz="1400" dirty="0">
              <a:solidFill>
                <a:schemeClr val="bg2">
                  <a:lumMod val="25000"/>
                </a:schemeClr>
              </a:solidFill>
              <a:cs typeface="+mn-ea"/>
              <a:sym typeface="+mn-lt"/>
            </a:endParaRPr>
          </a:p>
        </p:txBody>
      </p:sp>
      <p:grpSp>
        <p:nvGrpSpPr>
          <p:cNvPr id="15" name="组合 14"/>
          <p:cNvGrpSpPr/>
          <p:nvPr/>
        </p:nvGrpSpPr>
        <p:grpSpPr>
          <a:xfrm>
            <a:off x="3567633" y="5017975"/>
            <a:ext cx="510831" cy="498819"/>
            <a:chOff x="5950860" y="5219807"/>
            <a:chExt cx="682173" cy="682173"/>
          </a:xfrm>
          <a:solidFill>
            <a:schemeClr val="tx1"/>
          </a:solidFill>
        </p:grpSpPr>
        <p:sp>
          <p:nvSpPr>
            <p:cNvPr id="16" name="椭圆 15"/>
            <p:cNvSpPr/>
            <p:nvPr/>
          </p:nvSpPr>
          <p:spPr>
            <a:xfrm>
              <a:off x="5950860" y="5219807"/>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7" name="图片 16"/>
            <p:cNvPicPr>
              <a:picLocks noChangeAspect="1"/>
            </p:cNvPicPr>
            <p:nvPr/>
          </p:nvPicPr>
          <p:blipFill>
            <a:blip r:embed="rId2"/>
            <a:stretch>
              <a:fillRect/>
            </a:stretch>
          </p:blipFill>
          <p:spPr>
            <a:xfrm>
              <a:off x="6150265" y="5433479"/>
              <a:ext cx="294384" cy="294392"/>
            </a:xfrm>
            <a:prstGeom prst="rect">
              <a:avLst/>
            </a:prstGeom>
            <a:grpFill/>
          </p:spPr>
        </p:pic>
      </p:grpSp>
      <p:sp>
        <p:nvSpPr>
          <p:cNvPr id="18" name="文本框 17"/>
          <p:cNvSpPr txBox="1"/>
          <p:nvPr/>
        </p:nvSpPr>
        <p:spPr>
          <a:xfrm>
            <a:off x="4453722" y="5126898"/>
            <a:ext cx="3989851" cy="646331"/>
          </a:xfrm>
          <a:prstGeom prst="rect">
            <a:avLst/>
          </a:prstGeom>
          <a:noFill/>
        </p:spPr>
        <p:txBody>
          <a:bodyPr wrap="square" rtlCol="0">
            <a:spAutoFit/>
          </a:bodyPr>
          <a:lstStyle/>
          <a:p>
            <a:r>
              <a:rPr lang="en-US" altLang="zh-CN" dirty="0"/>
              <a:t>Stable CPU usage and network traffic</a:t>
            </a:r>
            <a:endParaRPr lang="en-US" altLang="zh-CN" dirty="0"/>
          </a:p>
          <a:p>
            <a:endParaRPr lang="zh-CN" altLang="en-US" dirty="0"/>
          </a:p>
        </p:txBody>
      </p:sp>
      <p:grpSp>
        <p:nvGrpSpPr>
          <p:cNvPr id="22" name="组合 21"/>
          <p:cNvGrpSpPr/>
          <p:nvPr/>
        </p:nvGrpSpPr>
        <p:grpSpPr>
          <a:xfrm>
            <a:off x="3567632" y="4329010"/>
            <a:ext cx="510831" cy="498819"/>
            <a:chOff x="5950860" y="5219807"/>
            <a:chExt cx="682173" cy="682173"/>
          </a:xfrm>
          <a:solidFill>
            <a:schemeClr val="tx1"/>
          </a:solidFill>
        </p:grpSpPr>
        <p:sp>
          <p:nvSpPr>
            <p:cNvPr id="23" name="椭圆 22"/>
            <p:cNvSpPr/>
            <p:nvPr/>
          </p:nvSpPr>
          <p:spPr>
            <a:xfrm>
              <a:off x="5950860" y="5219807"/>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4" name="图片 23"/>
            <p:cNvPicPr>
              <a:picLocks noChangeAspect="1"/>
            </p:cNvPicPr>
            <p:nvPr/>
          </p:nvPicPr>
          <p:blipFill>
            <a:blip r:embed="rId2"/>
            <a:stretch>
              <a:fillRect/>
            </a:stretch>
          </p:blipFill>
          <p:spPr>
            <a:xfrm>
              <a:off x="6150265" y="5433479"/>
              <a:ext cx="294384" cy="294392"/>
            </a:xfrm>
            <a:prstGeom prst="rect">
              <a:avLst/>
            </a:prstGeom>
            <a:grpFill/>
          </p:spPr>
        </p:pic>
      </p:grpSp>
      <p:grpSp>
        <p:nvGrpSpPr>
          <p:cNvPr id="25" name="组合 24"/>
          <p:cNvGrpSpPr/>
          <p:nvPr/>
        </p:nvGrpSpPr>
        <p:grpSpPr>
          <a:xfrm>
            <a:off x="3567632" y="5839349"/>
            <a:ext cx="510831" cy="498819"/>
            <a:chOff x="5950860" y="5219807"/>
            <a:chExt cx="682173" cy="682173"/>
          </a:xfrm>
          <a:solidFill>
            <a:schemeClr val="tx1"/>
          </a:solidFill>
        </p:grpSpPr>
        <p:sp>
          <p:nvSpPr>
            <p:cNvPr id="26" name="椭圆 25"/>
            <p:cNvSpPr/>
            <p:nvPr/>
          </p:nvSpPr>
          <p:spPr>
            <a:xfrm>
              <a:off x="5950860" y="5219807"/>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7" name="图片 26"/>
            <p:cNvPicPr>
              <a:picLocks noChangeAspect="1"/>
            </p:cNvPicPr>
            <p:nvPr/>
          </p:nvPicPr>
          <p:blipFill>
            <a:blip r:embed="rId2"/>
            <a:stretch>
              <a:fillRect/>
            </a:stretch>
          </p:blipFill>
          <p:spPr>
            <a:xfrm>
              <a:off x="6150265" y="5433479"/>
              <a:ext cx="294384" cy="294392"/>
            </a:xfrm>
            <a:prstGeom prst="rect">
              <a:avLst/>
            </a:prstGeom>
            <a:grpFill/>
          </p:spPr>
        </p:pic>
      </p:grpSp>
      <p:pic>
        <p:nvPicPr>
          <p:cNvPr id="29" name="图片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1295" y="1137623"/>
            <a:ext cx="5636425" cy="2818213"/>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5" grpId="0"/>
      <p:bldP spid="4" grpId="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0" y="550926"/>
            <a:ext cx="12192000" cy="381000"/>
            <a:chOff x="0" y="391286"/>
            <a:chExt cx="12192000" cy="381000"/>
          </a:xfrm>
        </p:grpSpPr>
        <p:cxnSp>
          <p:nvCxnSpPr>
            <p:cNvPr id="8" name="直接连接符 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rot="10800000">
              <a:off x="11060824" y="391286"/>
              <a:ext cx="656896" cy="381000"/>
              <a:chOff x="307428" y="393221"/>
              <a:chExt cx="656896" cy="381000"/>
            </a:xfrm>
          </p:grpSpPr>
          <p:sp>
            <p:nvSpPr>
              <p:cNvPr id="10" name="等腰三角形 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6829" b="5243"/>
          <a:stretch>
            <a:fillRect/>
          </a:stretch>
        </p:blipFill>
        <p:spPr bwMode="auto">
          <a:xfrm>
            <a:off x="4559659" y="1190082"/>
            <a:ext cx="2718929" cy="4926493"/>
          </a:xfrm>
          <a:prstGeom prst="rect">
            <a:avLst/>
          </a:prstGeom>
          <a:noFill/>
          <a:ln>
            <a:noFill/>
          </a:ln>
        </p:spPr>
      </p:pic>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t="7414" b="4284"/>
          <a:stretch>
            <a:fillRect/>
          </a:stretch>
        </p:blipFill>
        <p:spPr bwMode="auto">
          <a:xfrm>
            <a:off x="541262" y="1190082"/>
            <a:ext cx="2743643" cy="4926491"/>
          </a:xfrm>
          <a:prstGeom prst="rect">
            <a:avLst/>
          </a:prstGeom>
          <a:noFill/>
          <a:ln>
            <a:noFill/>
          </a:ln>
        </p:spPr>
      </p:pic>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t="6828" b="4300"/>
          <a:stretch>
            <a:fillRect/>
          </a:stretch>
        </p:blipFill>
        <p:spPr bwMode="auto">
          <a:xfrm>
            <a:off x="8717566" y="1190083"/>
            <a:ext cx="2671706" cy="4926490"/>
          </a:xfrm>
          <a:prstGeom prst="rect">
            <a:avLst/>
          </a:prstGeom>
          <a:noFill/>
          <a:ln>
            <a:noFill/>
          </a:ln>
        </p:spPr>
      </p:pic>
      <p:sp>
        <p:nvSpPr>
          <p:cNvPr id="12" name="文本框 11"/>
          <p:cNvSpPr txBox="1"/>
          <p:nvPr/>
        </p:nvSpPr>
        <p:spPr>
          <a:xfrm>
            <a:off x="358324" y="219776"/>
            <a:ext cx="2267310" cy="369332"/>
          </a:xfrm>
          <a:prstGeom prst="rect">
            <a:avLst/>
          </a:prstGeom>
          <a:solidFill>
            <a:schemeClr val="tx1"/>
          </a:solidFill>
        </p:spPr>
        <p:txBody>
          <a:bodyPr wrap="square" rtlCol="0">
            <a:spAutoFit/>
          </a:bodyPr>
          <a:lstStyle/>
          <a:p>
            <a:pPr algn="ctr"/>
            <a:r>
              <a:rPr lang="en-US" altLang="zh-CN" b="1" dirty="0">
                <a:solidFill>
                  <a:schemeClr val="bg1"/>
                </a:solidFill>
              </a:rPr>
              <a:t>Demonstration</a:t>
            </a:r>
            <a:endParaRPr lang="zh-CN" altLang="zh-CN" b="1" dirty="0">
              <a:solidFill>
                <a:schemeClr val="bg1"/>
              </a:solidFill>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471652" y="2466199"/>
            <a:ext cx="10064915" cy="1200329"/>
          </a:xfrm>
          <a:prstGeom prst="rect">
            <a:avLst/>
          </a:prstGeom>
          <a:noFill/>
        </p:spPr>
        <p:txBody>
          <a:bodyPr wrap="square" rtlCol="0">
            <a:spAutoFit/>
          </a:bodyPr>
          <a:lstStyle/>
          <a:p>
            <a:r>
              <a:rPr lang="en-US" altLang="zh-CN" sz="7200" dirty="0">
                <a:latin typeface="方正正黑简体" panose="02000000000000000000" pitchFamily="2" charset="-122"/>
                <a:ea typeface="方正正黑简体" panose="02000000000000000000" pitchFamily="2" charset="-122"/>
                <a:cs typeface="+mn-ea"/>
                <a:sym typeface="+mn-lt"/>
              </a:rPr>
              <a:t>Thanks for Listening</a:t>
            </a:r>
            <a:endParaRPr lang="zh-CN" altLang="en-US" sz="7200" dirty="0">
              <a:latin typeface="方正正黑简体" panose="02000000000000000000" pitchFamily="2" charset="-122"/>
              <a:ea typeface="方正正黑简体" panose="02000000000000000000" pitchFamily="2" charset="-122"/>
              <a:cs typeface="+mn-ea"/>
              <a:sym typeface="+mn-lt"/>
            </a:endParaRPr>
          </a:p>
        </p:txBody>
      </p:sp>
      <p:cxnSp>
        <p:nvCxnSpPr>
          <p:cNvPr id="23" name="直接连接符 22"/>
          <p:cNvCxnSpPr/>
          <p:nvPr/>
        </p:nvCxnSpPr>
        <p:spPr>
          <a:xfrm>
            <a:off x="1161401" y="392362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9753600" y="2195097"/>
            <a:ext cx="1111416" cy="2434055"/>
            <a:chOff x="9448800" y="2089837"/>
            <a:chExt cx="1428750" cy="2731515"/>
          </a:xfrm>
        </p:grpSpPr>
        <p:cxnSp>
          <p:nvCxnSpPr>
            <p:cNvPr id="26" name="直接连接符 25"/>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0" y="530275"/>
            <a:ext cx="12192000" cy="381000"/>
            <a:chOff x="0" y="530275"/>
            <a:chExt cx="12192000" cy="381000"/>
          </a:xfrm>
        </p:grpSpPr>
        <p:cxnSp>
          <p:nvCxnSpPr>
            <p:cNvPr id="30" name="直接连接符 29"/>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等腰三角形 30"/>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等腰三角形 31"/>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7" name="组合 36"/>
          <p:cNvGrpSpPr/>
          <p:nvPr/>
        </p:nvGrpSpPr>
        <p:grpSpPr>
          <a:xfrm>
            <a:off x="0" y="6229350"/>
            <a:ext cx="12192000" cy="381000"/>
            <a:chOff x="0" y="6229350"/>
            <a:chExt cx="12192000" cy="381000"/>
          </a:xfrm>
        </p:grpSpPr>
        <p:cxnSp>
          <p:nvCxnSpPr>
            <p:cNvPr id="28" name="直接连接符 27"/>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rot="10800000">
              <a:off x="10865016" y="6229350"/>
              <a:ext cx="656896" cy="381000"/>
              <a:chOff x="10536568" y="6381752"/>
              <a:chExt cx="656896" cy="381000"/>
            </a:xfrm>
          </p:grpSpPr>
          <p:sp>
            <p:nvSpPr>
              <p:cNvPr id="34" name="等腰三角形 33"/>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等腰三角形 34"/>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6" name="文本框 35"/>
          <p:cNvSpPr txBox="1"/>
          <p:nvPr/>
        </p:nvSpPr>
        <p:spPr>
          <a:xfrm>
            <a:off x="10721812" y="172667"/>
            <a:ext cx="1162760" cy="523220"/>
          </a:xfrm>
          <a:prstGeom prst="rect">
            <a:avLst/>
          </a:prstGeom>
          <a:solidFill>
            <a:schemeClr val="tx1"/>
          </a:solidFill>
        </p:spPr>
        <p:txBody>
          <a:bodyPr wrap="square" rtlCol="0">
            <a:spAutoFit/>
          </a:bodyPr>
          <a:lstStyle>
            <a:defPPr>
              <a:defRPr lang="zh-CN"/>
            </a:defPPr>
            <a:lvl1pPr algn="ctr">
              <a:defRPr sz="2800">
                <a:solidFill>
                  <a:schemeClr val="bg1"/>
                </a:solidFill>
                <a:latin typeface="Agency FB" panose="020B0503020202020204" pitchFamily="34" charset="0"/>
                <a:cs typeface="+mn-ea"/>
              </a:defRPr>
            </a:lvl1pPr>
          </a:lstStyle>
          <a:p>
            <a:r>
              <a:rPr lang="en-US" altLang="zh-CN" dirty="0">
                <a:sym typeface="+mn-lt"/>
              </a:rPr>
              <a:t>LOGO</a:t>
            </a:r>
            <a:endParaRPr lang="zh-CN" altLang="en-US" dirty="0">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advTm="4497"/>
    </mc:Choice>
    <mc:Fallback>
      <p:transition spd="slow" advTm="4497"/>
    </mc:Fallback>
  </mc:AlternateContent>
  <p:timing>
    <p:tnLst>
      <p:par>
        <p:cTn id="1" dur="indefinite" restart="never" nodeType="tmRoot"/>
      </p:par>
    </p:tnLst>
    <p:bldLst>
      <p:bldP spid="21" grpId="0"/>
      <p:bldP spid="36" grpId="0" animBg="1"/>
    </p:bldLst>
  </p:timing>
</p:sld>
</file>

<file path=ppt/tags/tag1.xml><?xml version="1.0" encoding="utf-8"?>
<p:tagLst xmlns:p="http://schemas.openxmlformats.org/presentationml/2006/main">
  <p:tag name="TIMING" val="|0.3|0.9|0.7|0.9|0.7|0.7|1|0.9"/>
</p:tagLst>
</file>

<file path=ppt/tags/tag2.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3.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4.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5.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6.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7.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8.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9.xml><?xml version="1.0" encoding="utf-8"?>
<p:tagLst xmlns:p="http://schemas.openxmlformats.org/presentationml/2006/main">
  <p:tag name="KSO_WM_DIAGRAM_VIRTUALLY_FRAME" val="{&quot;height&quot;:352.91850393700787,&quot;left&quot;:287.81149606299215,&quot;top&quot;:132.2715748031496,&quot;width&quot;:442.4742519685039}"/>
</p:tagLst>
</file>

<file path=ppt/tags/tag10.xml><?xml version="1.0" encoding="utf-8"?>
<p:tagLst xmlns:p="http://schemas.openxmlformats.org/presentationml/2006/main">
  <p:tag name="TIMING" val="|0.3|0.8|0.7|0.8|1|0.7|0.7|0.8|0.8"/>
</p:tagLst>
</file>

<file path=ppt/tags/tag11.xml><?xml version="1.0" encoding="utf-8"?>
<p:tagLst xmlns:p="http://schemas.openxmlformats.org/presentationml/2006/main">
  <p:tag name="TIMING" val="|0.3|0.7|0.7|0.7|0.8"/>
</p:tagLst>
</file>

<file path=ppt/tags/tag12.xml><?xml version="1.0" encoding="utf-8"?>
<p:tagLst xmlns:p="http://schemas.openxmlformats.org/presentationml/2006/main">
  <p:tag name="TIMING" val="|0.3|0.7|0.6|0.8|1.3"/>
</p:tagLst>
</file>

<file path=ppt/tags/tag13.xml><?xml version="1.0" encoding="utf-8"?>
<p:tagLst xmlns:p="http://schemas.openxmlformats.org/presentationml/2006/main">
  <p:tag name="TIMING" val="|0|0.7|0.7|0.8|1.3"/>
</p:tagLst>
</file>

<file path=ppt/tags/tag14.xml><?xml version="1.0" encoding="utf-8"?>
<p:tagLst xmlns:p="http://schemas.openxmlformats.org/presentationml/2006/main">
  <p:tag name="TIMING" val="|0.3|0.7|0.7|0.7|0.8"/>
</p:tagLst>
</file>

<file path=ppt/tags/tag15.xml><?xml version="1.0" encoding="utf-8"?>
<p:tagLst xmlns:p="http://schemas.openxmlformats.org/presentationml/2006/main">
  <p:tag name="TIMING" val="|0|0.7|0.6|1.3|0.6"/>
</p:tagLst>
</file>

<file path=ppt/tags/tag16.xml><?xml version="1.0" encoding="utf-8"?>
<p:tagLst xmlns:p="http://schemas.openxmlformats.org/presentationml/2006/main">
  <p:tag name="TIMING" val="|0|0.7|0.6|1.3|0.6"/>
</p:tagLst>
</file>

<file path=ppt/tags/tag17.xml><?xml version="1.0" encoding="utf-8"?>
<p:tagLst xmlns:p="http://schemas.openxmlformats.org/presentationml/2006/main">
  <p:tag name="TIMING" val="|0.3|0.7|0.7|0.7|0.8"/>
</p:tagLst>
</file>

<file path=ppt/tags/tag18.xml><?xml version="1.0" encoding="utf-8"?>
<p:tagLst xmlns:p="http://schemas.openxmlformats.org/presentationml/2006/main">
  <p:tag name="KSO_WM_DIAGRAM_VIRTUALLY_FRAME" val="{&quot;height&quot;:400,&quot;left&quot;:60,&quot;top&quot;:100,&quot;width&quot;:840}"/>
</p:tagLst>
</file>

<file path=ppt/tags/tag19.xml><?xml version="1.0" encoding="utf-8"?>
<p:tagLst xmlns:p="http://schemas.openxmlformats.org/presentationml/2006/main">
  <p:tag name="KSO_WM_DIAGRAM_VIRTUALLY_FRAME" val="{&quot;height&quot;:400,&quot;left&quot;:60,&quot;top&quot;:100,&quot;width&quot;:840}"/>
</p:tagLst>
</file>

<file path=ppt/tags/tag20.xml><?xml version="1.0" encoding="utf-8"?>
<p:tagLst xmlns:p="http://schemas.openxmlformats.org/presentationml/2006/main">
  <p:tag name="KSO_WM_DIAGRAM_VIRTUALLY_FRAME" val="{&quot;height&quot;:400,&quot;left&quot;:60,&quot;top&quot;:100,&quot;width&quot;:840}"/>
</p:tagLst>
</file>

<file path=ppt/tags/tag21.xml><?xml version="1.0" encoding="utf-8"?>
<p:tagLst xmlns:p="http://schemas.openxmlformats.org/presentationml/2006/main">
  <p:tag name="KSO_WM_DIAGRAM_VIRTUALLY_FRAME" val="{&quot;height&quot;:400,&quot;left&quot;:60,&quot;top&quot;:100,&quot;width&quot;:840}"/>
</p:tagLst>
</file>

<file path=ppt/tags/tag22.xml><?xml version="1.0" encoding="utf-8"?>
<p:tagLst xmlns:p="http://schemas.openxmlformats.org/presentationml/2006/main">
  <p:tag name="KSO_WM_DIAGRAM_VIRTUALLY_FRAME" val="{&quot;height&quot;:400,&quot;left&quot;:60,&quot;top&quot;:100,&quot;width&quot;:840}"/>
</p:tagLst>
</file>

<file path=ppt/tags/tag23.xml><?xml version="1.0" encoding="utf-8"?>
<p:tagLst xmlns:p="http://schemas.openxmlformats.org/presentationml/2006/main">
  <p:tag name="KSO_WM_DIAGRAM_VIRTUALLY_FRAME" val="{&quot;height&quot;:400,&quot;left&quot;:60,&quot;top&quot;:100,&quot;width&quot;:840}"/>
</p:tagLst>
</file>

<file path=ppt/tags/tag24.xml><?xml version="1.0" encoding="utf-8"?>
<p:tagLst xmlns:p="http://schemas.openxmlformats.org/presentationml/2006/main">
  <p:tag name="KSO_WM_DIAGRAM_VIRTUALLY_FRAME" val="{&quot;height&quot;:400,&quot;left&quot;:60,&quot;top&quot;:100,&quot;width&quot;:840}"/>
</p:tagLst>
</file>

<file path=ppt/tags/tag25.xml><?xml version="1.0" encoding="utf-8"?>
<p:tagLst xmlns:p="http://schemas.openxmlformats.org/presentationml/2006/main">
  <p:tag name="KSO_WM_DIAGRAM_VIRTUALLY_FRAME" val="{&quot;height&quot;:400,&quot;left&quot;:60,&quot;top&quot;:100,&quot;width&quot;:840}"/>
</p:tagLst>
</file>

<file path=ppt/tags/tag26.xml><?xml version="1.0" encoding="utf-8"?>
<p:tagLst xmlns:p="http://schemas.openxmlformats.org/presentationml/2006/main">
  <p:tag name="TIMING" val="|0.3|0.7|0.7|0.7|0.8"/>
</p:tagLst>
</file>

<file path=ppt/tags/tag27.xml><?xml version="1.0" encoding="utf-8"?>
<p:tagLst xmlns:p="http://schemas.openxmlformats.org/presentationml/2006/main">
  <p:tag name="TIMING" val="|0|0.7|0.6|1.3|0.6"/>
</p:tagLst>
</file>

<file path=ppt/tags/tag28.xml><?xml version="1.0" encoding="utf-8"?>
<p:tagLst xmlns:p="http://schemas.openxmlformats.org/presentationml/2006/main">
  <p:tag name="TIMING" val="|0|0.7|0.6|1.3|0.6"/>
</p:tagLst>
</file>

<file path=ppt/tags/tag29.xml><?xml version="1.0" encoding="utf-8"?>
<p:tagLst xmlns:p="http://schemas.openxmlformats.org/presentationml/2006/main">
  <p:tag name="TIMING" val="|0.6|0.7|0.7|0.7|0.9|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2092</Words>
  <Application>WPS 演示</Application>
  <PresentationFormat>宽屏</PresentationFormat>
  <Paragraphs>148</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15</vt:i4>
      </vt:variant>
    </vt:vector>
  </HeadingPairs>
  <TitlesOfParts>
    <vt:vector size="31" baseType="lpstr">
      <vt:lpstr>Arial</vt:lpstr>
      <vt:lpstr>宋体</vt:lpstr>
      <vt:lpstr>Wingdings</vt:lpstr>
      <vt:lpstr>方正正黑简体</vt:lpstr>
      <vt:lpstr>黑体</vt:lpstr>
      <vt:lpstr>等线</vt:lpstr>
      <vt:lpstr>Times New Roman</vt:lpstr>
      <vt:lpstr>Agency FB</vt:lpstr>
      <vt:lpstr>微软雅黑</vt:lpstr>
      <vt:lpstr>Arial Unicode MS</vt:lpstr>
      <vt:lpstr>等线 Light</vt:lpstr>
      <vt:lpstr>Calibri</vt:lpstr>
      <vt:lpstr>Noto Sans SC</vt:lpstr>
      <vt:lpstr>方正正黑简体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昕羽 季</dc:creator>
  <cp:lastModifiedBy>WPS_1629071260</cp:lastModifiedBy>
  <cp:revision>10</cp:revision>
  <dcterms:created xsi:type="dcterms:W3CDTF">2026-04-12T14:38:00Z</dcterms:created>
  <dcterms:modified xsi:type="dcterms:W3CDTF">2026-04-12T19:05:27Z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300AF941778A4D9583570ED128F1CA47_13</vt:lpwstr>
  </property>
</Properties>
</file>